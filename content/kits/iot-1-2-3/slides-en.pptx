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Build a rain gauge · 1</a:t>
            </a:r>
            <a:endParaRPr lang="en-GB" sz="1100" dirty="0"/>
          </a:p>
        </p:txBody>
      </p:sp>
      <p:sp>
        <p:nvSpPr>
          <p:cNvPr id="5" name="Shape 2"/>
          <p:cNvSpPr/>
          <p:nvPr/>
        </p:nvSpPr>
        <p:spPr>
          <a:xfrm>
            <a:off x="8138160" y="1280160"/>
            <a:ext cx="3474720" cy="3474720"/>
          </a:xfrm>
          <a:prstGeom prst="roundRect">
            <a:avLst>
              <a:gd name="adj" fmla="val 10526"/>
            </a:avLst>
          </a:prstGeom>
          <a:solidFill>
            <a:srgbClr val="CCF2EC"/>
          </a:solidFill>
          <a:ln w="12700">
            <a:solidFill>
              <a:srgbClr val="CCF2EC"/>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8961120" y="2103120"/>
            <a:ext cx="1828800" cy="1828800"/>
          </a:xfrm>
          <a:prstGeom prst="rect">
            <a:avLst/>
          </a:prstGeom>
        </p:spPr>
      </p:pic>
      <p:sp>
        <p:nvSpPr>
          <p:cNvPr id="7" name="Text 3"/>
          <p:cNvSpPr/>
          <p:nvPr/>
        </p:nvSpPr>
        <p:spPr>
          <a:xfrm>
            <a:off x="640080" y="1828800"/>
            <a:ext cx="7223760" cy="1828800"/>
          </a:xfrm>
          <a:prstGeom prst="rect">
            <a:avLst/>
          </a:prstGeom>
          <a:noFill/>
          <a:ln/>
        </p:spPr>
        <p:txBody>
          <a:bodyPr wrap="square" rtlCol="0" anchor="ctr"/>
          <a:lstStyle/>
          <a:p>
            <a:pPr algn="l" indent="0" marL="0">
              <a:buNone/>
            </a:pPr>
            <a:r>
              <a:rPr lang="en-GB" altLang="en-US" sz="5400" b="1" dirty="0">
                <a:solidFill>
                  <a:srgbClr val="1E1A33"/>
                </a:solidFill>
                <a:latin typeface="Arial" pitchFamily="34" charset="0"/>
                <a:ea typeface="Arial" pitchFamily="34" charset="-122"/>
                <a:cs typeface="Arial" pitchFamily="34" charset="-120"/>
              </a:rPr>
              <a:t>Build a rain gauge</a:t>
            </a:r>
            <a:endParaRPr lang="en-GB" sz="5400" dirty="0"/>
          </a:p>
        </p:txBody>
      </p:sp>
      <p:sp>
        <p:nvSpPr>
          <p:cNvPr id="8" name="Text 4"/>
          <p:cNvSpPr/>
          <p:nvPr/>
        </p:nvSpPr>
        <p:spPr>
          <a:xfrm>
            <a:off x="640080" y="3749040"/>
            <a:ext cx="7223760" cy="548640"/>
          </a:xfrm>
          <a:prstGeom prst="rect">
            <a:avLst/>
          </a:prstGeom>
          <a:noFill/>
          <a:ln/>
        </p:spPr>
        <p:txBody>
          <a:bodyPr wrap="square" rtlCol="0" anchor="ctr"/>
          <a:lstStyle/>
          <a:p>
            <a:pPr algn="l" indent="0" marL="0">
              <a:buNone/>
            </a:pPr>
            <a:r>
              <a:rPr lang="en-GB" altLang="en-US" sz="2200" b="1" dirty="0">
                <a:solidFill>
                  <a:srgbClr val="065F56"/>
                </a:solidFill>
                <a:latin typeface="Arial" pitchFamily="34" charset="0"/>
                <a:ea typeface="Arial" pitchFamily="34" charset="-122"/>
                <a:cs typeface="Arial" pitchFamily="34" charset="-120"/>
              </a:rPr>
              <a:t>IoT · Level 1 · Lesson 3</a:t>
            </a:r>
            <a:endParaRPr lang="en-GB"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Build a rain gauge · 2</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Today we will</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Explain that rainfall is measured in millimetres of depth.</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Build a rain gauge from a bottle, with a zero line, a millimetre scale and a funnel.</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Choose a good place for the gauge and agree a daily reading routine.</a:t>
            </a:r>
            <a:endParaRPr lang="en-GB"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Build a rain gauge · 3</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Build it, place it, read it</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An adult cuts off the top</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Mark 0 and a mm scale</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Set it in open ground</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Read daily, empty to 0</a:t>
            </a:r>
            <a:endParaRPr lang="en-GB"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Build a rain gauge · 4</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Make a bottle rain gauge: Build</a:t>
            </a:r>
            <a:endParaRPr lang="en-GB" sz="3800" dirty="0"/>
          </a:p>
        </p:txBody>
      </p:sp>
      <p:sp>
        <p:nvSpPr>
          <p:cNvPr id="6" name="Text 3"/>
          <p:cNvSpPr/>
          <p:nvPr/>
        </p:nvSpPr>
        <p:spPr>
          <a:xfrm>
            <a:off x="822960" y="1691640"/>
            <a:ext cx="7223760" cy="4206240"/>
          </a:xfrm>
          <a:prstGeom prst="rect">
            <a:avLst/>
          </a:prstGeom>
          <a:noFill/>
          <a:ln/>
        </p:spPr>
        <p:txBody>
          <a:bodyPr wrap="square" rtlCol="0" anchor="t"/>
          <a:lstStyle/>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Warm-up (5 min): Ask: “Did it rain a lot or a little last time?” Let pupils disagree.</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Teach (7 min): Explain millimetres of rain: the depth on flat ground.</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Build (15 min): Groups add stones and water just to cover them, mark the 0 line, and tape on a paper scale marked every millimetre from a ruler.</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Place it (8 min): Walk to the spots you chose.</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Wrap-up (5 min): Back in class, draw a reading rota and a table on the board: date, time, rain (mm).</a:t>
            </a:r>
            <a:endParaRPr lang="en-GB" sz="1800" dirty="0"/>
          </a:p>
        </p:txBody>
      </p:sp>
      <p:sp>
        <p:nvSpPr>
          <p:cNvPr id="7" name="Shape 4"/>
          <p:cNvSpPr/>
          <p:nvPr/>
        </p:nvSpPr>
        <p:spPr>
          <a:xfrm>
            <a:off x="832104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8458200" y="1874520"/>
            <a:ext cx="2971800" cy="3840480"/>
          </a:xfrm>
          <a:prstGeom prst="rect">
            <a:avLst/>
          </a:prstGeom>
          <a:noFill/>
          <a:ln/>
        </p:spPr>
        <p:txBody>
          <a:bodyPr wrap="square" rtlCol="0" anchor="ctr"/>
          <a:lstStyle/>
          <a:p>
            <a:pPr algn="ctr" indent="0" marL="0">
              <a:buNone/>
            </a:pPr>
            <a:r>
              <a:rPr lang="en-GB" altLang="en-US" sz="1300" b="1" dirty="0">
                <a:solidFill>
                  <a:srgbClr val="1E1A33"/>
                </a:solidFill>
                <a:latin typeface="Arial" pitchFamily="34" charset="0"/>
                <a:ea typeface="Arial" pitchFamily="34" charset="-122"/>
                <a:cs typeface="Arial" pitchFamily="34" charset="-120"/>
              </a:rPr>
              <a:t>Before class, cut the top off each bottle where the sides start to curve, and tape the cut edges. Check that each bottle’s sides are straight. Walk the school grounds and pick two or three open spots to discuss.</a:t>
            </a:r>
            <a:endParaRPr lang="en-GB"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Build a rain gauge · 5</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Let’s discuss</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Is your 0 line level?</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Does every millimetre on your scale match the ruler?</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Is there anything above the gauge that could block rain or drip water in?</a:t>
            </a:r>
            <a:endParaRPr lang="en-GB"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Build a rain gauge · 6</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Exit ticket</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One rule for reading the rain gauge, and why it matters.</a:t>
            </a:r>
            <a:endParaRPr lang="en-GB"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rain gauge</dc:title>
  <dc:subject>PptxGenJS Presentation</dc:subject>
  <dc:creator>Darsi</dc:creator>
  <cp:lastModifiedBy>Darsi</cp:lastModifiedBy>
  <cp:revision>1</cp:revision>
  <dcterms:created xsi:type="dcterms:W3CDTF">2026-10-27T22:35:12Z</dcterms:created>
  <dcterms:modified xsi:type="dcterms:W3CDTF">2026-10-27T22:35:12Z</dcterms:modified>
</cp:coreProperties>
</file>