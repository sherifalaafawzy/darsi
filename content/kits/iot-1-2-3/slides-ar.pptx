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rtl="1" saveSubsetFonts="1" autoCompressPictures="0">
  <p:sldMasterIdLst>
    <p:sldMasterId id="2147483648" r:id="rId1"/>
  </p:sldMasterIdLst>
  <p:sldIdLst>
    <p:sldId id="256" r:id="rId2"/>
    <p:sldId id="257" r:id="rId3"/>
    <p:sldId id="258" r:id="rId4"/>
    <p:sldId id="259" r:id="rId5"/>
    <p:sldId id="260" r:id="rId6"/>
    <p:sldId id="261" r:id="rId7"/>
  </p:sldIdLst>
  <p:notesMasterIdLst>
    <p:notesMasterId r:id="rId8"/>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notesMaster" Target="notesMasters/notesMaster1.xml"/><Relationship Id="rId9" Type="http://schemas.openxmlformats.org/officeDocument/2006/relationships/presProps" Target="presProps.xml"/><Relationship Id="rId10" Type="http://schemas.openxmlformats.org/officeDocument/2006/relationships/viewProps" Target="viewProps.xml"/><Relationship Id="rId11" Type="http://schemas.openxmlformats.org/officeDocument/2006/relationships/theme" Target="theme/theme1.xml"/><Relationship Id="rId12"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1.png"/><Relationship Id="rId3" Type="http://schemas.openxmlformats.org/officeDocument/2006/relationships/slideLayout" Target="../slideLayouts/slideLayout1.xml"/><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88952" cy="256032"/>
          </a:xfrm>
          <a:prstGeom prst="rect">
            <a:avLst/>
          </a:prstGeom>
          <a:solidFill>
            <a:srgbClr val="14B8A6"/>
          </a:solidFill>
          <a:ln w="12700">
            <a:solidFill>
              <a:srgbClr val="14B8A6"/>
            </a:solidFill>
            <a:prstDash val="solid"/>
          </a:ln>
        </p:spPr>
      </p:sp>
      <p:pic>
        <p:nvPicPr>
          <p:cNvPr id="3" name="Image 0" descr="H:\htdocs\darsi\apps\web\public\app-icons\app-icon-192.png">    </p:cNvPr>
          <p:cNvPicPr>
            <a:picLocks noChangeAspect="1"/>
          </p:cNvPicPr>
          <p:nvPr/>
        </p:nvPicPr>
        <p:blipFill>
          <a:blip r:embed="rId1"/>
          <a:stretch>
            <a:fillRect/>
          </a:stretch>
        </p:blipFill>
        <p:spPr>
          <a:xfrm>
            <a:off x="411480" y="6172200"/>
            <a:ext cx="457200" cy="457200"/>
          </a:xfrm>
          <a:prstGeom prst="rect">
            <a:avLst/>
          </a:prstGeom>
        </p:spPr>
      </p:pic>
      <p:sp>
        <p:nvSpPr>
          <p:cNvPr id="4" name="Text 1"/>
          <p:cNvSpPr/>
          <p:nvPr/>
        </p:nvSpPr>
        <p:spPr>
          <a:xfrm>
            <a:off x="1005840" y="6236208"/>
            <a:ext cx="10698480" cy="365760"/>
          </a:xfrm>
          <a:prstGeom prst="rect">
            <a:avLst/>
          </a:prstGeom>
          <a:noFill/>
          <a:ln/>
        </p:spPr>
        <p:txBody>
          <a:bodyPr wrap="square" rtlCol="0" anchor="ctr"/>
          <a:lstStyle/>
          <a:p>
            <a:pPr rtl="1" algn="r" indent="0" marL="0">
              <a:buNone/>
            </a:pPr>
            <a:r>
              <a:rPr lang="ar-SA" altLang="en-US" sz="1100" dirty="0">
                <a:solidFill>
                  <a:srgbClr val="5C5470"/>
                </a:solidFill>
                <a:latin typeface="Arial" pitchFamily="34" charset="0"/>
                <a:ea typeface="Arial" pitchFamily="34" charset="-122"/>
                <a:cs typeface="Arial" pitchFamily="34" charset="-120"/>
              </a:rPr>
              <a:t>درسي — يُسمح بنسخها لمدرستك مجانًا، اصنع مقياس مطر، ١</a:t>
            </a:r>
            <a:endParaRPr lang="ar-SA" sz="1100" dirty="0"/>
          </a:p>
        </p:txBody>
      </p:sp>
      <p:sp>
        <p:nvSpPr>
          <p:cNvPr id="5" name="Shape 2"/>
          <p:cNvSpPr/>
          <p:nvPr/>
        </p:nvSpPr>
        <p:spPr>
          <a:xfrm>
            <a:off x="548640" y="1280160"/>
            <a:ext cx="3474720" cy="3474720"/>
          </a:xfrm>
          <a:prstGeom prst="roundRect">
            <a:avLst>
              <a:gd name="adj" fmla="val 10526"/>
            </a:avLst>
          </a:prstGeom>
          <a:solidFill>
            <a:srgbClr val="CCF2EC"/>
          </a:solidFill>
          <a:ln w="12700">
            <a:solidFill>
              <a:srgbClr val="CCF2EC"/>
            </a:solidFill>
            <a:prstDash val="solid"/>
          </a:ln>
        </p:spPr>
      </p:sp>
      <p:pic>
        <p:nvPicPr>
          <p:cNvPr id="6" name="Image 1" descr="H:\htdocs\darsi\apps\web\public\app-icons\app-icon-192.png">    </p:cNvPr>
          <p:cNvPicPr>
            <a:picLocks noChangeAspect="1"/>
          </p:cNvPicPr>
          <p:nvPr/>
        </p:nvPicPr>
        <p:blipFill>
          <a:blip r:embed="rId2"/>
          <a:stretch>
            <a:fillRect/>
          </a:stretch>
        </p:blipFill>
        <p:spPr>
          <a:xfrm>
            <a:off x="1371600" y="2103120"/>
            <a:ext cx="1828800" cy="1828800"/>
          </a:xfrm>
          <a:prstGeom prst="rect">
            <a:avLst/>
          </a:prstGeom>
        </p:spPr>
      </p:pic>
      <p:sp>
        <p:nvSpPr>
          <p:cNvPr id="7" name="Text 3"/>
          <p:cNvSpPr/>
          <p:nvPr/>
        </p:nvSpPr>
        <p:spPr>
          <a:xfrm>
            <a:off x="4389120" y="1828800"/>
            <a:ext cx="7223760" cy="1828800"/>
          </a:xfrm>
          <a:prstGeom prst="rect">
            <a:avLst/>
          </a:prstGeom>
          <a:noFill/>
          <a:ln/>
        </p:spPr>
        <p:txBody>
          <a:bodyPr wrap="square" rtlCol="0" anchor="ctr"/>
          <a:lstStyle/>
          <a:p>
            <a:pPr rtl="1" algn="r" indent="0" marL="0">
              <a:buNone/>
            </a:pPr>
            <a:r>
              <a:rPr lang="ar-SA" altLang="en-US" sz="5400" b="1" dirty="0">
                <a:solidFill>
                  <a:srgbClr val="1E1A33"/>
                </a:solidFill>
                <a:latin typeface="Arial" pitchFamily="34" charset="0"/>
                <a:ea typeface="Arial" pitchFamily="34" charset="-122"/>
                <a:cs typeface="Arial" pitchFamily="34" charset="-120"/>
              </a:rPr>
              <a:t>اصنع مقياس مطر</a:t>
            </a:r>
            <a:endParaRPr lang="ar-SA" sz="5400" dirty="0"/>
          </a:p>
        </p:txBody>
      </p:sp>
      <p:sp>
        <p:nvSpPr>
          <p:cNvPr id="8" name="Text 4"/>
          <p:cNvSpPr/>
          <p:nvPr/>
        </p:nvSpPr>
        <p:spPr>
          <a:xfrm>
            <a:off x="4389120" y="3749040"/>
            <a:ext cx="7223760" cy="548640"/>
          </a:xfrm>
          <a:prstGeom prst="rect">
            <a:avLst/>
          </a:prstGeom>
          <a:noFill/>
          <a:ln/>
        </p:spPr>
        <p:txBody>
          <a:bodyPr wrap="square" rtlCol="0" anchor="ctr"/>
          <a:lstStyle/>
          <a:p>
            <a:pPr rtl="1" algn="r" indent="0" marL="0">
              <a:buNone/>
            </a:pPr>
            <a:r>
              <a:rPr lang="ar-SA" altLang="en-US" sz="2200" b="1" dirty="0">
                <a:solidFill>
                  <a:srgbClr val="065F56"/>
                </a:solidFill>
                <a:latin typeface="Arial" pitchFamily="34" charset="0"/>
                <a:ea typeface="Arial" pitchFamily="34" charset="-122"/>
                <a:cs typeface="Arial" pitchFamily="34" charset="-120"/>
              </a:rPr>
              <a:t>إنترنت الأشياء، المستوى ١، الدرس ٣</a:t>
            </a:r>
            <a:endParaRPr lang="ar-SA" sz="2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88952" cy="256032"/>
          </a:xfrm>
          <a:prstGeom prst="rect">
            <a:avLst/>
          </a:prstGeom>
          <a:solidFill>
            <a:srgbClr val="14B8A6"/>
          </a:solidFill>
          <a:ln w="12700">
            <a:solidFill>
              <a:srgbClr val="14B8A6"/>
            </a:solidFill>
            <a:prstDash val="solid"/>
          </a:ln>
        </p:spPr>
      </p:sp>
      <p:pic>
        <p:nvPicPr>
          <p:cNvPr id="3" name="Image 0" descr="H:\htdocs\darsi\apps\web\public\app-icons\app-icon-192.png">    </p:cNvPr>
          <p:cNvPicPr>
            <a:picLocks noChangeAspect="1"/>
          </p:cNvPicPr>
          <p:nvPr/>
        </p:nvPicPr>
        <p:blipFill>
          <a:blip r:embed="rId1"/>
          <a:stretch>
            <a:fillRect/>
          </a:stretch>
        </p:blipFill>
        <p:spPr>
          <a:xfrm>
            <a:off x="411480" y="6172200"/>
            <a:ext cx="457200" cy="457200"/>
          </a:xfrm>
          <a:prstGeom prst="rect">
            <a:avLst/>
          </a:prstGeom>
        </p:spPr>
      </p:pic>
      <p:sp>
        <p:nvSpPr>
          <p:cNvPr id="4" name="Text 1"/>
          <p:cNvSpPr/>
          <p:nvPr/>
        </p:nvSpPr>
        <p:spPr>
          <a:xfrm>
            <a:off x="1005840" y="6236208"/>
            <a:ext cx="10698480" cy="365760"/>
          </a:xfrm>
          <a:prstGeom prst="rect">
            <a:avLst/>
          </a:prstGeom>
          <a:noFill/>
          <a:ln/>
        </p:spPr>
        <p:txBody>
          <a:bodyPr wrap="square" rtlCol="0" anchor="ctr"/>
          <a:lstStyle/>
          <a:p>
            <a:pPr rtl="1" algn="r" indent="0" marL="0">
              <a:buNone/>
            </a:pPr>
            <a:r>
              <a:rPr lang="ar-SA" altLang="en-US" sz="1100" dirty="0">
                <a:solidFill>
                  <a:srgbClr val="5C5470"/>
                </a:solidFill>
                <a:latin typeface="Arial" pitchFamily="34" charset="0"/>
                <a:ea typeface="Arial" pitchFamily="34" charset="-122"/>
                <a:cs typeface="Arial" pitchFamily="34" charset="-120"/>
              </a:rPr>
              <a:t>درسي — يُسمح بنسخها لمدرستك مجانًا، اصنع مقياس مطر، ٢</a:t>
            </a:r>
            <a:endParaRPr lang="ar-SA" sz="1100" dirty="0"/>
          </a:p>
        </p:txBody>
      </p:sp>
      <p:sp>
        <p:nvSpPr>
          <p:cNvPr id="5" name="Text 2"/>
          <p:cNvSpPr/>
          <p:nvPr/>
        </p:nvSpPr>
        <p:spPr>
          <a:xfrm>
            <a:off x="640080" y="594360"/>
            <a:ext cx="10881360" cy="914400"/>
          </a:xfrm>
          <a:prstGeom prst="rect">
            <a:avLst/>
          </a:prstGeom>
          <a:noFill/>
          <a:ln/>
        </p:spPr>
        <p:txBody>
          <a:bodyPr wrap="square" rtlCol="0" anchor="ctr"/>
          <a:lstStyle/>
          <a:p>
            <a:pPr rtl="1" algn="r" indent="0" marL="0">
              <a:buNone/>
            </a:pPr>
            <a:r>
              <a:rPr lang="ar-SA" altLang="en-US" sz="3800" b="1" dirty="0">
                <a:solidFill>
                  <a:srgbClr val="1E1A33"/>
                </a:solidFill>
                <a:latin typeface="Arial" pitchFamily="34" charset="0"/>
                <a:ea typeface="Arial" pitchFamily="34" charset="-122"/>
                <a:cs typeface="Arial" pitchFamily="34" charset="-120"/>
              </a:rPr>
              <a:t>سنتعلّم اليوم</a:t>
            </a:r>
            <a:endParaRPr lang="ar-SA" sz="3800" dirty="0"/>
          </a:p>
        </p:txBody>
      </p:sp>
      <p:sp>
        <p:nvSpPr>
          <p:cNvPr id="6" name="Text 3"/>
          <p:cNvSpPr/>
          <p:nvPr/>
        </p:nvSpPr>
        <p:spPr>
          <a:xfrm>
            <a:off x="822960" y="1691640"/>
            <a:ext cx="10515600" cy="4206240"/>
          </a:xfrm>
          <a:prstGeom prst="rect">
            <a:avLst/>
          </a:prstGeom>
          <a:noFill/>
          <a:ln/>
        </p:spPr>
        <p:txBody>
          <a:bodyPr wrap="square" rtlCol="0" anchor="t"/>
          <a:lstStyle/>
          <a:p>
            <a:pPr rtl="1" algn="r" marL="342900" indent="-342900">
              <a:spcAft>
                <a:spcPts val="1300"/>
              </a:spcAft>
              <a:buSzPct val="100000"/>
              <a:buChar char="●"/>
            </a:pPr>
            <a:r>
              <a:rPr lang="ar-SA" altLang="en-US" sz="2600" dirty="0">
                <a:solidFill>
                  <a:srgbClr val="1E1A33"/>
                </a:solidFill>
                <a:latin typeface="Arial" pitchFamily="34" charset="0"/>
                <a:ea typeface="Arial" pitchFamily="34" charset="-122"/>
                <a:cs typeface="Arial" pitchFamily="34" charset="-120"/>
              </a:rPr>
              <a:t>نشرح أن كمية المطر تُقاس بالمليمترات من العمق.</a:t>
            </a:r>
            <a:endParaRPr lang="ar-SA" sz="2600" dirty="0"/>
          </a:p>
          <a:p>
            <a:pPr rtl="1" algn="r" marL="342900" indent="-342900">
              <a:spcAft>
                <a:spcPts val="1300"/>
              </a:spcAft>
              <a:buSzPct val="100000"/>
              <a:buChar char="●"/>
            </a:pPr>
            <a:r>
              <a:rPr lang="ar-SA" altLang="en-US" sz="2600" dirty="0">
                <a:solidFill>
                  <a:srgbClr val="1E1A33"/>
                </a:solidFill>
                <a:latin typeface="Arial" pitchFamily="34" charset="0"/>
                <a:ea typeface="Arial" pitchFamily="34" charset="-122"/>
                <a:cs typeface="Arial" pitchFamily="34" charset="-120"/>
              </a:rPr>
              <a:t>نصنع مقياس مطر من زجاجة، فيه خط صفر وتدريج بالمليمتر وقمع.</a:t>
            </a:r>
            <a:endParaRPr lang="ar-SA" sz="2600" dirty="0"/>
          </a:p>
          <a:p>
            <a:pPr rtl="1" algn="r" marL="342900" indent="-342900">
              <a:spcAft>
                <a:spcPts val="1300"/>
              </a:spcAft>
              <a:buSzPct val="100000"/>
              <a:buChar char="●"/>
            </a:pPr>
            <a:r>
              <a:rPr lang="ar-SA" altLang="en-US" sz="2600" dirty="0">
                <a:solidFill>
                  <a:srgbClr val="1E1A33"/>
                </a:solidFill>
                <a:latin typeface="Arial" pitchFamily="34" charset="0"/>
                <a:ea typeface="Arial" pitchFamily="34" charset="-122"/>
                <a:cs typeface="Arial" pitchFamily="34" charset="-120"/>
              </a:rPr>
              <a:t>نختار مكانًا جيدًا للمقياس ونتفق على روتين يومي للقراءة.</a:t>
            </a:r>
            <a:endParaRPr lang="ar-SA" sz="26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88952" cy="256032"/>
          </a:xfrm>
          <a:prstGeom prst="rect">
            <a:avLst/>
          </a:prstGeom>
          <a:solidFill>
            <a:srgbClr val="14B8A6"/>
          </a:solidFill>
          <a:ln w="12700">
            <a:solidFill>
              <a:srgbClr val="14B8A6"/>
            </a:solidFill>
            <a:prstDash val="solid"/>
          </a:ln>
        </p:spPr>
      </p:sp>
      <p:pic>
        <p:nvPicPr>
          <p:cNvPr id="3" name="Image 0" descr="H:\htdocs\darsi\apps\web\public\app-icons\app-icon-192.png">    </p:cNvPr>
          <p:cNvPicPr>
            <a:picLocks noChangeAspect="1"/>
          </p:cNvPicPr>
          <p:nvPr/>
        </p:nvPicPr>
        <p:blipFill>
          <a:blip r:embed="rId1"/>
          <a:stretch>
            <a:fillRect/>
          </a:stretch>
        </p:blipFill>
        <p:spPr>
          <a:xfrm>
            <a:off x="411480" y="6172200"/>
            <a:ext cx="457200" cy="457200"/>
          </a:xfrm>
          <a:prstGeom prst="rect">
            <a:avLst/>
          </a:prstGeom>
        </p:spPr>
      </p:pic>
      <p:sp>
        <p:nvSpPr>
          <p:cNvPr id="4" name="Text 1"/>
          <p:cNvSpPr/>
          <p:nvPr/>
        </p:nvSpPr>
        <p:spPr>
          <a:xfrm>
            <a:off x="1005840" y="6236208"/>
            <a:ext cx="10698480" cy="365760"/>
          </a:xfrm>
          <a:prstGeom prst="rect">
            <a:avLst/>
          </a:prstGeom>
          <a:noFill/>
          <a:ln/>
        </p:spPr>
        <p:txBody>
          <a:bodyPr wrap="square" rtlCol="0" anchor="ctr"/>
          <a:lstStyle/>
          <a:p>
            <a:pPr rtl="1" algn="r" indent="0" marL="0">
              <a:buNone/>
            </a:pPr>
            <a:r>
              <a:rPr lang="ar-SA" altLang="en-US" sz="1100" dirty="0">
                <a:solidFill>
                  <a:srgbClr val="5C5470"/>
                </a:solidFill>
                <a:latin typeface="Arial" pitchFamily="34" charset="0"/>
                <a:ea typeface="Arial" pitchFamily="34" charset="-122"/>
                <a:cs typeface="Arial" pitchFamily="34" charset="-120"/>
              </a:rPr>
              <a:t>درسي — يُسمح بنسخها لمدرستك مجانًا، اصنع مقياس مطر، ٣</a:t>
            </a:r>
            <a:endParaRPr lang="ar-SA" sz="1100" dirty="0"/>
          </a:p>
        </p:txBody>
      </p:sp>
      <p:sp>
        <p:nvSpPr>
          <p:cNvPr id="5" name="Text 2"/>
          <p:cNvSpPr/>
          <p:nvPr/>
        </p:nvSpPr>
        <p:spPr>
          <a:xfrm>
            <a:off x="640080" y="594360"/>
            <a:ext cx="10881360" cy="914400"/>
          </a:xfrm>
          <a:prstGeom prst="rect">
            <a:avLst/>
          </a:prstGeom>
          <a:noFill/>
          <a:ln/>
        </p:spPr>
        <p:txBody>
          <a:bodyPr wrap="square" rtlCol="0" anchor="ctr"/>
          <a:lstStyle/>
          <a:p>
            <a:pPr rtl="1" algn="r" indent="0" marL="0">
              <a:buNone/>
            </a:pPr>
            <a:r>
              <a:rPr lang="ar-SA" altLang="en-US" sz="3800" b="1" dirty="0">
                <a:solidFill>
                  <a:srgbClr val="1E1A33"/>
                </a:solidFill>
                <a:latin typeface="Arial" pitchFamily="34" charset="0"/>
                <a:ea typeface="Arial" pitchFamily="34" charset="-122"/>
                <a:cs typeface="Arial" pitchFamily="34" charset="-120"/>
              </a:rPr>
              <a:t>اصنعه، ضعه، اقرأه</a:t>
            </a:r>
            <a:endParaRPr lang="ar-SA" sz="3800" dirty="0"/>
          </a:p>
        </p:txBody>
      </p:sp>
      <p:sp>
        <p:nvSpPr>
          <p:cNvPr id="6" name="Text 3"/>
          <p:cNvSpPr/>
          <p:nvPr/>
        </p:nvSpPr>
        <p:spPr>
          <a:xfrm>
            <a:off x="822960" y="1691640"/>
            <a:ext cx="10515600" cy="4206240"/>
          </a:xfrm>
          <a:prstGeom prst="rect">
            <a:avLst/>
          </a:prstGeom>
          <a:noFill/>
          <a:ln/>
        </p:spPr>
        <p:txBody>
          <a:bodyPr wrap="square" rtlCol="0" anchor="t"/>
          <a:lstStyle/>
          <a:p>
            <a:pPr rtl="1" algn="r" marL="342900" indent="-342900">
              <a:spcAft>
                <a:spcPts val="1300"/>
              </a:spcAft>
              <a:buSzPct val="100000"/>
              <a:buChar char="●"/>
            </a:pPr>
            <a:r>
              <a:rPr lang="ar-SA" altLang="en-US" sz="2600" dirty="0">
                <a:solidFill>
                  <a:srgbClr val="1E1A33"/>
                </a:solidFill>
                <a:latin typeface="Arial" pitchFamily="34" charset="0"/>
                <a:ea typeface="Arial" pitchFamily="34" charset="-122"/>
                <a:cs typeface="Arial" pitchFamily="34" charset="-120"/>
              </a:rPr>
              <a:t>يقطع شخص بالغ الجزء العلوي</a:t>
            </a:r>
            <a:endParaRPr lang="ar-SA" sz="2600" dirty="0"/>
          </a:p>
          <a:p>
            <a:pPr rtl="1" algn="r" marL="342900" indent="-342900">
              <a:spcAft>
                <a:spcPts val="1300"/>
              </a:spcAft>
              <a:buSzPct val="100000"/>
              <a:buChar char="●"/>
            </a:pPr>
            <a:r>
              <a:rPr lang="ar-SA" altLang="en-US" sz="2600" dirty="0">
                <a:solidFill>
                  <a:srgbClr val="1E1A33"/>
                </a:solidFill>
                <a:latin typeface="Arial" pitchFamily="34" charset="0"/>
                <a:ea typeface="Arial" pitchFamily="34" charset="-122"/>
                <a:cs typeface="Arial" pitchFamily="34" charset="-120"/>
              </a:rPr>
              <a:t>علّم الصفر وتدريجًا بالمليمتر</a:t>
            </a:r>
            <a:endParaRPr lang="ar-SA" sz="2600" dirty="0"/>
          </a:p>
          <a:p>
            <a:pPr rtl="1" algn="r" marL="342900" indent="-342900">
              <a:spcAft>
                <a:spcPts val="1300"/>
              </a:spcAft>
              <a:buSzPct val="100000"/>
              <a:buChar char="●"/>
            </a:pPr>
            <a:r>
              <a:rPr lang="ar-SA" altLang="en-US" sz="2600" dirty="0">
                <a:solidFill>
                  <a:srgbClr val="1E1A33"/>
                </a:solidFill>
                <a:latin typeface="Arial" pitchFamily="34" charset="0"/>
                <a:ea typeface="Arial" pitchFamily="34" charset="-122"/>
                <a:cs typeface="Arial" pitchFamily="34" charset="-120"/>
              </a:rPr>
              <a:t>ضعه في أرض مكشوفة</a:t>
            </a:r>
            <a:endParaRPr lang="ar-SA" sz="2600" dirty="0"/>
          </a:p>
          <a:p>
            <a:pPr rtl="1" algn="r" marL="342900" indent="-342900">
              <a:spcAft>
                <a:spcPts val="1300"/>
              </a:spcAft>
              <a:buSzPct val="100000"/>
              <a:buChar char="●"/>
            </a:pPr>
            <a:r>
              <a:rPr lang="ar-SA" altLang="en-US" sz="2600" dirty="0">
                <a:solidFill>
                  <a:srgbClr val="1E1A33"/>
                </a:solidFill>
                <a:latin typeface="Arial" pitchFamily="34" charset="0"/>
                <a:ea typeface="Arial" pitchFamily="34" charset="-122"/>
                <a:cs typeface="Arial" pitchFamily="34" charset="-120"/>
              </a:rPr>
              <a:t>اقرأه يوميًّا، وأفرغه حتى الصفر</a:t>
            </a:r>
            <a:endParaRPr lang="ar-SA" sz="26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88952" cy="256032"/>
          </a:xfrm>
          <a:prstGeom prst="rect">
            <a:avLst/>
          </a:prstGeom>
          <a:solidFill>
            <a:srgbClr val="14B8A6"/>
          </a:solidFill>
          <a:ln w="12700">
            <a:solidFill>
              <a:srgbClr val="14B8A6"/>
            </a:solidFill>
            <a:prstDash val="solid"/>
          </a:ln>
        </p:spPr>
      </p:sp>
      <p:pic>
        <p:nvPicPr>
          <p:cNvPr id="3" name="Image 0" descr="H:\htdocs\darsi\apps\web\public\app-icons\app-icon-192.png">    </p:cNvPr>
          <p:cNvPicPr>
            <a:picLocks noChangeAspect="1"/>
          </p:cNvPicPr>
          <p:nvPr/>
        </p:nvPicPr>
        <p:blipFill>
          <a:blip r:embed="rId1"/>
          <a:stretch>
            <a:fillRect/>
          </a:stretch>
        </p:blipFill>
        <p:spPr>
          <a:xfrm>
            <a:off x="411480" y="6172200"/>
            <a:ext cx="457200" cy="457200"/>
          </a:xfrm>
          <a:prstGeom prst="rect">
            <a:avLst/>
          </a:prstGeom>
        </p:spPr>
      </p:pic>
      <p:sp>
        <p:nvSpPr>
          <p:cNvPr id="4" name="Text 1"/>
          <p:cNvSpPr/>
          <p:nvPr/>
        </p:nvSpPr>
        <p:spPr>
          <a:xfrm>
            <a:off x="1005840" y="6236208"/>
            <a:ext cx="10698480" cy="365760"/>
          </a:xfrm>
          <a:prstGeom prst="rect">
            <a:avLst/>
          </a:prstGeom>
          <a:noFill/>
          <a:ln/>
        </p:spPr>
        <p:txBody>
          <a:bodyPr wrap="square" rtlCol="0" anchor="ctr"/>
          <a:lstStyle/>
          <a:p>
            <a:pPr rtl="1" algn="r" indent="0" marL="0">
              <a:buNone/>
            </a:pPr>
            <a:r>
              <a:rPr lang="ar-SA" altLang="en-US" sz="1100" dirty="0">
                <a:solidFill>
                  <a:srgbClr val="5C5470"/>
                </a:solidFill>
                <a:latin typeface="Arial" pitchFamily="34" charset="0"/>
                <a:ea typeface="Arial" pitchFamily="34" charset="-122"/>
                <a:cs typeface="Arial" pitchFamily="34" charset="-120"/>
              </a:rPr>
              <a:t>درسي — يُسمح بنسخها لمدرستك مجانًا، اصنع مقياس مطر، ٤</a:t>
            </a:r>
            <a:endParaRPr lang="ar-SA" sz="1100" dirty="0"/>
          </a:p>
        </p:txBody>
      </p:sp>
      <p:sp>
        <p:nvSpPr>
          <p:cNvPr id="5" name="Text 2"/>
          <p:cNvSpPr/>
          <p:nvPr/>
        </p:nvSpPr>
        <p:spPr>
          <a:xfrm>
            <a:off x="640080" y="594360"/>
            <a:ext cx="10881360" cy="914400"/>
          </a:xfrm>
          <a:prstGeom prst="rect">
            <a:avLst/>
          </a:prstGeom>
          <a:noFill/>
          <a:ln/>
        </p:spPr>
        <p:txBody>
          <a:bodyPr wrap="square" rtlCol="0" anchor="ctr"/>
          <a:lstStyle/>
          <a:p>
            <a:pPr rtl="1" algn="r" indent="0" marL="0">
              <a:buNone/>
            </a:pPr>
            <a:r>
              <a:rPr lang="ar-SA" altLang="en-US" sz="3800" b="1" dirty="0">
                <a:solidFill>
                  <a:srgbClr val="1E1A33"/>
                </a:solidFill>
                <a:latin typeface="Arial" pitchFamily="34" charset="0"/>
                <a:ea typeface="Arial" pitchFamily="34" charset="-122"/>
                <a:cs typeface="Arial" pitchFamily="34" charset="-120"/>
              </a:rPr>
              <a:t>اصنع مقياس مطر من زجاجة: الصنع</a:t>
            </a:r>
            <a:endParaRPr lang="ar-SA" sz="3800" dirty="0"/>
          </a:p>
        </p:txBody>
      </p:sp>
      <p:sp>
        <p:nvSpPr>
          <p:cNvPr id="6" name="Text 3"/>
          <p:cNvSpPr/>
          <p:nvPr/>
        </p:nvSpPr>
        <p:spPr>
          <a:xfrm>
            <a:off x="4160520" y="1691640"/>
            <a:ext cx="7223760" cy="4206240"/>
          </a:xfrm>
          <a:prstGeom prst="rect">
            <a:avLst/>
          </a:prstGeom>
          <a:noFill/>
          <a:ln/>
        </p:spPr>
        <p:txBody>
          <a:bodyPr wrap="square" rtlCol="0" anchor="t"/>
          <a:lstStyle/>
          <a:p>
            <a:pPr rtl="1" algn="r" marL="342900" indent="-342900">
              <a:spcAft>
                <a:spcPts val="900"/>
              </a:spcAft>
              <a:buSzPct val="100000"/>
              <a:buFont typeface="+mj-lt"/>
              <a:buAutoNum type="arabicPeriod" startAt="1"/>
            </a:pPr>
            <a:r>
              <a:rPr lang="ar-SA" altLang="en-US" sz="1800" dirty="0">
                <a:solidFill>
                  <a:srgbClr val="1E1A33"/>
                </a:solidFill>
                <a:latin typeface="Arial" pitchFamily="34" charset="0"/>
                <a:ea typeface="Arial" pitchFamily="34" charset="-122"/>
                <a:cs typeface="Arial" pitchFamily="34" charset="-120"/>
              </a:rPr>
              <a:t>تمهيد (٥ دقائق): اسأل: «هل أمطرت كثيرًا أم قليلًا آخر مرة؟» ودع الطلاب يختلفون.</a:t>
            </a:r>
            <a:endParaRPr lang="ar-SA" sz="1800" dirty="0"/>
          </a:p>
          <a:p>
            <a:pPr rtl="1" algn="r" marL="342900" indent="-342900">
              <a:spcAft>
                <a:spcPts val="900"/>
              </a:spcAft>
              <a:buSzPct val="100000"/>
              <a:buFont typeface="+mj-lt"/>
              <a:buAutoNum type="arabicPeriod" startAt="1"/>
            </a:pPr>
            <a:r>
              <a:rPr lang="ar-SA" altLang="en-US" sz="1800" dirty="0">
                <a:solidFill>
                  <a:srgbClr val="1E1A33"/>
                </a:solidFill>
                <a:latin typeface="Arial" pitchFamily="34" charset="0"/>
                <a:ea typeface="Arial" pitchFamily="34" charset="-122"/>
                <a:cs typeface="Arial" pitchFamily="34" charset="-120"/>
              </a:rPr>
              <a:t>الشرح (٧ دقائق): اشرح مليمترات المطر: العمق على أرض مستوية.</a:t>
            </a:r>
            <a:endParaRPr lang="ar-SA" sz="1800" dirty="0"/>
          </a:p>
          <a:p>
            <a:pPr rtl="1" algn="r" marL="342900" indent="-342900">
              <a:spcAft>
                <a:spcPts val="900"/>
              </a:spcAft>
              <a:buSzPct val="100000"/>
              <a:buFont typeface="+mj-lt"/>
              <a:buAutoNum type="arabicPeriod" startAt="1"/>
            </a:pPr>
            <a:r>
              <a:rPr lang="ar-SA" altLang="en-US" sz="1800" dirty="0">
                <a:solidFill>
                  <a:srgbClr val="1E1A33"/>
                </a:solidFill>
                <a:latin typeface="Arial" pitchFamily="34" charset="0"/>
                <a:ea typeface="Arial" pitchFamily="34" charset="-122"/>
                <a:cs typeface="Arial" pitchFamily="34" charset="-120"/>
              </a:rPr>
              <a:t>الصنع (١٥ دقيقة): تضيف المجموعات الحصى وماءً يغطّيها بالكاد، وتعلّم خط الصفر، وتلصق تدريجًا ورقيًّا عليه علامة لكل مليمتر منقولة عن مسطرة.</a:t>
            </a:r>
            <a:endParaRPr lang="ar-SA" sz="1800" dirty="0"/>
          </a:p>
          <a:p>
            <a:pPr rtl="1" algn="r" marL="342900" indent="-342900">
              <a:spcAft>
                <a:spcPts val="900"/>
              </a:spcAft>
              <a:buSzPct val="100000"/>
              <a:buFont typeface="+mj-lt"/>
              <a:buAutoNum type="arabicPeriod" startAt="1"/>
            </a:pPr>
            <a:r>
              <a:rPr lang="ar-SA" altLang="en-US" sz="1800" dirty="0">
                <a:solidFill>
                  <a:srgbClr val="1E1A33"/>
                </a:solidFill>
                <a:latin typeface="Arial" pitchFamily="34" charset="0"/>
                <a:ea typeface="Arial" pitchFamily="34" charset="-122"/>
                <a:cs typeface="Arial" pitchFamily="34" charset="-120"/>
              </a:rPr>
              <a:t>الوضع في المكان (٨ دقائق): امشوا إلى الأماكن التي اخترتها.</a:t>
            </a:r>
            <a:endParaRPr lang="ar-SA" sz="1800" dirty="0"/>
          </a:p>
          <a:p>
            <a:pPr rtl="1" algn="r" marL="342900" indent="-342900">
              <a:spcAft>
                <a:spcPts val="900"/>
              </a:spcAft>
              <a:buSzPct val="100000"/>
              <a:buFont typeface="+mj-lt"/>
              <a:buAutoNum type="arabicPeriod" startAt="1"/>
            </a:pPr>
            <a:r>
              <a:rPr lang="ar-SA" altLang="en-US" sz="1800" dirty="0">
                <a:solidFill>
                  <a:srgbClr val="1E1A33"/>
                </a:solidFill>
                <a:latin typeface="Arial" pitchFamily="34" charset="0"/>
                <a:ea typeface="Arial" pitchFamily="34" charset="-122"/>
                <a:cs typeface="Arial" pitchFamily="34" charset="-120"/>
              </a:rPr>
              <a:t>الختام (٥ دقائق): بعد العودة إلى الصف، ارسم على السبورة جدول مناوبة للقراءة وجدولًا: التاريخ، الوقت، المطر (مم).</a:t>
            </a:r>
            <a:endParaRPr lang="ar-SA" sz="1800" dirty="0"/>
          </a:p>
        </p:txBody>
      </p:sp>
      <p:sp>
        <p:nvSpPr>
          <p:cNvPr id="7" name="Shape 4"/>
          <p:cNvSpPr/>
          <p:nvPr/>
        </p:nvSpPr>
        <p:spPr>
          <a:xfrm>
            <a:off x="640080" y="1783080"/>
            <a:ext cx="3246120" cy="4023360"/>
          </a:xfrm>
          <a:prstGeom prst="roundRect">
            <a:avLst>
              <a:gd name="adj" fmla="val 5634"/>
            </a:avLst>
          </a:prstGeom>
          <a:solidFill>
            <a:srgbClr val="FFE2D2"/>
          </a:solidFill>
          <a:ln w="25400">
            <a:solidFill>
              <a:srgbClr val="FF6A2B"/>
            </a:solidFill>
            <a:prstDash val="solid"/>
          </a:ln>
        </p:spPr>
      </p:sp>
      <p:sp>
        <p:nvSpPr>
          <p:cNvPr id="8" name="Text 5"/>
          <p:cNvSpPr/>
          <p:nvPr/>
        </p:nvSpPr>
        <p:spPr>
          <a:xfrm>
            <a:off x="777240" y="1874520"/>
            <a:ext cx="2971800" cy="3840480"/>
          </a:xfrm>
          <a:prstGeom prst="rect">
            <a:avLst/>
          </a:prstGeom>
          <a:noFill/>
          <a:ln/>
        </p:spPr>
        <p:txBody>
          <a:bodyPr wrap="square" rtlCol="0" anchor="ctr"/>
          <a:lstStyle/>
          <a:p>
            <a:pPr rtl="1" algn="ctr" indent="0" marL="0">
              <a:buNone/>
            </a:pPr>
            <a:r>
              <a:rPr lang="ar-SA" altLang="en-US" sz="1400" b="1" dirty="0">
                <a:solidFill>
                  <a:srgbClr val="1E1A33"/>
                </a:solidFill>
                <a:latin typeface="Arial" pitchFamily="34" charset="0"/>
                <a:ea typeface="Arial" pitchFamily="34" charset="-122"/>
                <a:cs typeface="Arial" pitchFamily="34" charset="-120"/>
              </a:rPr>
              <a:t>قبل الحصة، اقطع الجزء العلوي من كل زجاجة عند بداية انحناء الجوانب، وغطِّ الحواف المقطوعة بشريط لاصق. تأكّد أن جوانب كل زجاجة مستقيمة. تجوّل في ساحات المدرسة واختر مكانين أو ثلاثة أماكن مكشوفة للنقاش.</a:t>
            </a:r>
            <a:endParaRPr lang="ar-SA" sz="14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88952" cy="256032"/>
          </a:xfrm>
          <a:prstGeom prst="rect">
            <a:avLst/>
          </a:prstGeom>
          <a:solidFill>
            <a:srgbClr val="14B8A6"/>
          </a:solidFill>
          <a:ln w="12700">
            <a:solidFill>
              <a:srgbClr val="14B8A6"/>
            </a:solidFill>
            <a:prstDash val="solid"/>
          </a:ln>
        </p:spPr>
      </p:sp>
      <p:pic>
        <p:nvPicPr>
          <p:cNvPr id="3" name="Image 0" descr="H:\htdocs\darsi\apps\web\public\app-icons\app-icon-192.png">    </p:cNvPr>
          <p:cNvPicPr>
            <a:picLocks noChangeAspect="1"/>
          </p:cNvPicPr>
          <p:nvPr/>
        </p:nvPicPr>
        <p:blipFill>
          <a:blip r:embed="rId1"/>
          <a:stretch>
            <a:fillRect/>
          </a:stretch>
        </p:blipFill>
        <p:spPr>
          <a:xfrm>
            <a:off x="411480" y="6172200"/>
            <a:ext cx="457200" cy="457200"/>
          </a:xfrm>
          <a:prstGeom prst="rect">
            <a:avLst/>
          </a:prstGeom>
        </p:spPr>
      </p:pic>
      <p:sp>
        <p:nvSpPr>
          <p:cNvPr id="4" name="Text 1"/>
          <p:cNvSpPr/>
          <p:nvPr/>
        </p:nvSpPr>
        <p:spPr>
          <a:xfrm>
            <a:off x="1005840" y="6236208"/>
            <a:ext cx="10698480" cy="365760"/>
          </a:xfrm>
          <a:prstGeom prst="rect">
            <a:avLst/>
          </a:prstGeom>
          <a:noFill/>
          <a:ln/>
        </p:spPr>
        <p:txBody>
          <a:bodyPr wrap="square" rtlCol="0" anchor="ctr"/>
          <a:lstStyle/>
          <a:p>
            <a:pPr rtl="1" algn="r" indent="0" marL="0">
              <a:buNone/>
            </a:pPr>
            <a:r>
              <a:rPr lang="ar-SA" altLang="en-US" sz="1100" dirty="0">
                <a:solidFill>
                  <a:srgbClr val="5C5470"/>
                </a:solidFill>
                <a:latin typeface="Arial" pitchFamily="34" charset="0"/>
                <a:ea typeface="Arial" pitchFamily="34" charset="-122"/>
                <a:cs typeface="Arial" pitchFamily="34" charset="-120"/>
              </a:rPr>
              <a:t>درسي — يُسمح بنسخها لمدرستك مجانًا، اصنع مقياس مطر، ٥</a:t>
            </a:r>
            <a:endParaRPr lang="ar-SA" sz="1100" dirty="0"/>
          </a:p>
        </p:txBody>
      </p:sp>
      <p:sp>
        <p:nvSpPr>
          <p:cNvPr id="5" name="Text 2"/>
          <p:cNvSpPr/>
          <p:nvPr/>
        </p:nvSpPr>
        <p:spPr>
          <a:xfrm>
            <a:off x="640080" y="594360"/>
            <a:ext cx="10881360" cy="914400"/>
          </a:xfrm>
          <a:prstGeom prst="rect">
            <a:avLst/>
          </a:prstGeom>
          <a:noFill/>
          <a:ln/>
        </p:spPr>
        <p:txBody>
          <a:bodyPr wrap="square" rtlCol="0" anchor="ctr"/>
          <a:lstStyle/>
          <a:p>
            <a:pPr rtl="1" algn="r" indent="0" marL="0">
              <a:buNone/>
            </a:pPr>
            <a:r>
              <a:rPr lang="ar-SA" altLang="en-US" sz="3800" b="1" dirty="0">
                <a:solidFill>
                  <a:srgbClr val="1E1A33"/>
                </a:solidFill>
                <a:latin typeface="Arial" pitchFamily="34" charset="0"/>
                <a:ea typeface="Arial" pitchFamily="34" charset="-122"/>
                <a:cs typeface="Arial" pitchFamily="34" charset="-120"/>
              </a:rPr>
              <a:t>لنتناقش</a:t>
            </a:r>
            <a:endParaRPr lang="ar-SA" sz="3800" dirty="0"/>
          </a:p>
        </p:txBody>
      </p:sp>
      <p:sp>
        <p:nvSpPr>
          <p:cNvPr id="6" name="Text 3"/>
          <p:cNvSpPr/>
          <p:nvPr/>
        </p:nvSpPr>
        <p:spPr>
          <a:xfrm>
            <a:off x="822960" y="1691640"/>
            <a:ext cx="10515600" cy="4206240"/>
          </a:xfrm>
          <a:prstGeom prst="rect">
            <a:avLst/>
          </a:prstGeom>
          <a:noFill/>
          <a:ln/>
        </p:spPr>
        <p:txBody>
          <a:bodyPr wrap="square" rtlCol="0" anchor="t"/>
          <a:lstStyle/>
          <a:p>
            <a:pPr rtl="1" algn="r" marL="342900" indent="-342900">
              <a:spcAft>
                <a:spcPts val="1300"/>
              </a:spcAft>
              <a:buSzPct val="100000"/>
              <a:buFont typeface="+mj-lt"/>
              <a:buAutoNum type="arabicPeriod" startAt="1"/>
            </a:pPr>
            <a:r>
              <a:rPr lang="ar-SA" altLang="en-US" sz="2600" dirty="0">
                <a:solidFill>
                  <a:srgbClr val="1E1A33"/>
                </a:solidFill>
                <a:latin typeface="Arial" pitchFamily="34" charset="0"/>
                <a:ea typeface="Arial" pitchFamily="34" charset="-122"/>
                <a:cs typeface="Arial" pitchFamily="34" charset="-120"/>
              </a:rPr>
              <a:t>هل خط الصفر عندكم مستوٍ؟</a:t>
            </a:r>
            <a:endParaRPr lang="ar-SA" sz="2600" dirty="0"/>
          </a:p>
          <a:p>
            <a:pPr rtl="1" algn="r" marL="342900" indent="-342900">
              <a:spcAft>
                <a:spcPts val="1300"/>
              </a:spcAft>
              <a:buSzPct val="100000"/>
              <a:buFont typeface="+mj-lt"/>
              <a:buAutoNum type="arabicPeriod" startAt="1"/>
            </a:pPr>
            <a:r>
              <a:rPr lang="ar-SA" altLang="en-US" sz="2600" dirty="0">
                <a:solidFill>
                  <a:srgbClr val="1E1A33"/>
                </a:solidFill>
                <a:latin typeface="Arial" pitchFamily="34" charset="0"/>
                <a:ea typeface="Arial" pitchFamily="34" charset="-122"/>
                <a:cs typeface="Arial" pitchFamily="34" charset="-120"/>
              </a:rPr>
              <a:t>هل يطابق كل مليمتر على تدريجكم المسطرة؟</a:t>
            </a:r>
            <a:endParaRPr lang="ar-SA" sz="2600" dirty="0"/>
          </a:p>
          <a:p>
            <a:pPr rtl="1" algn="r" marL="342900" indent="-342900">
              <a:spcAft>
                <a:spcPts val="1300"/>
              </a:spcAft>
              <a:buSzPct val="100000"/>
              <a:buFont typeface="+mj-lt"/>
              <a:buAutoNum type="arabicPeriod" startAt="1"/>
            </a:pPr>
            <a:r>
              <a:rPr lang="ar-SA" altLang="en-US" sz="2600" dirty="0">
                <a:solidFill>
                  <a:srgbClr val="1E1A33"/>
                </a:solidFill>
                <a:latin typeface="Arial" pitchFamily="34" charset="0"/>
                <a:ea typeface="Arial" pitchFamily="34" charset="-122"/>
                <a:cs typeface="Arial" pitchFamily="34" charset="-120"/>
              </a:rPr>
              <a:t>هل فوق المقياس شيء قد يحجب المطر أو يقطر فيه ماءً؟</a:t>
            </a:r>
            <a:endParaRPr lang="ar-SA" sz="26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88952" cy="256032"/>
          </a:xfrm>
          <a:prstGeom prst="rect">
            <a:avLst/>
          </a:prstGeom>
          <a:solidFill>
            <a:srgbClr val="14B8A6"/>
          </a:solidFill>
          <a:ln w="12700">
            <a:solidFill>
              <a:srgbClr val="14B8A6"/>
            </a:solidFill>
            <a:prstDash val="solid"/>
          </a:ln>
        </p:spPr>
      </p:sp>
      <p:pic>
        <p:nvPicPr>
          <p:cNvPr id="3" name="Image 0" descr="H:\htdocs\darsi\apps\web\public\app-icons\app-icon-192.png">    </p:cNvPr>
          <p:cNvPicPr>
            <a:picLocks noChangeAspect="1"/>
          </p:cNvPicPr>
          <p:nvPr/>
        </p:nvPicPr>
        <p:blipFill>
          <a:blip r:embed="rId1"/>
          <a:stretch>
            <a:fillRect/>
          </a:stretch>
        </p:blipFill>
        <p:spPr>
          <a:xfrm>
            <a:off x="411480" y="6172200"/>
            <a:ext cx="457200" cy="457200"/>
          </a:xfrm>
          <a:prstGeom prst="rect">
            <a:avLst/>
          </a:prstGeom>
        </p:spPr>
      </p:pic>
      <p:sp>
        <p:nvSpPr>
          <p:cNvPr id="4" name="Text 1"/>
          <p:cNvSpPr/>
          <p:nvPr/>
        </p:nvSpPr>
        <p:spPr>
          <a:xfrm>
            <a:off x="1005840" y="6236208"/>
            <a:ext cx="10698480" cy="365760"/>
          </a:xfrm>
          <a:prstGeom prst="rect">
            <a:avLst/>
          </a:prstGeom>
          <a:noFill/>
          <a:ln/>
        </p:spPr>
        <p:txBody>
          <a:bodyPr wrap="square" rtlCol="0" anchor="ctr"/>
          <a:lstStyle/>
          <a:p>
            <a:pPr rtl="1" algn="r" indent="0" marL="0">
              <a:buNone/>
            </a:pPr>
            <a:r>
              <a:rPr lang="ar-SA" altLang="en-US" sz="1100" dirty="0">
                <a:solidFill>
                  <a:srgbClr val="5C5470"/>
                </a:solidFill>
                <a:latin typeface="Arial" pitchFamily="34" charset="0"/>
                <a:ea typeface="Arial" pitchFamily="34" charset="-122"/>
                <a:cs typeface="Arial" pitchFamily="34" charset="-120"/>
              </a:rPr>
              <a:t>درسي — يُسمح بنسخها لمدرستك مجانًا، اصنع مقياس مطر، ٦</a:t>
            </a:r>
            <a:endParaRPr lang="ar-SA" sz="1100" dirty="0"/>
          </a:p>
        </p:txBody>
      </p:sp>
      <p:sp>
        <p:nvSpPr>
          <p:cNvPr id="5" name="Text 2"/>
          <p:cNvSpPr/>
          <p:nvPr/>
        </p:nvSpPr>
        <p:spPr>
          <a:xfrm>
            <a:off x="640080" y="594360"/>
            <a:ext cx="10881360" cy="914400"/>
          </a:xfrm>
          <a:prstGeom prst="rect">
            <a:avLst/>
          </a:prstGeom>
          <a:noFill/>
          <a:ln/>
        </p:spPr>
        <p:txBody>
          <a:bodyPr wrap="square" rtlCol="0" anchor="ctr"/>
          <a:lstStyle/>
          <a:p>
            <a:pPr rtl="1" algn="r" indent="0" marL="0">
              <a:buNone/>
            </a:pPr>
            <a:r>
              <a:rPr lang="ar-SA" altLang="en-US" sz="3800" b="1" dirty="0">
                <a:solidFill>
                  <a:srgbClr val="1E1A33"/>
                </a:solidFill>
                <a:latin typeface="Arial" pitchFamily="34" charset="0"/>
                <a:ea typeface="Arial" pitchFamily="34" charset="-122"/>
                <a:cs typeface="Arial" pitchFamily="34" charset="-120"/>
              </a:rPr>
              <a:t>بطاقة الخروج</a:t>
            </a:r>
            <a:endParaRPr lang="ar-SA" sz="3800" dirty="0"/>
          </a:p>
        </p:txBody>
      </p:sp>
      <p:sp>
        <p:nvSpPr>
          <p:cNvPr id="6" name="Text 3"/>
          <p:cNvSpPr/>
          <p:nvPr/>
        </p:nvSpPr>
        <p:spPr>
          <a:xfrm>
            <a:off x="822960" y="1691640"/>
            <a:ext cx="10515600" cy="4206240"/>
          </a:xfrm>
          <a:prstGeom prst="rect">
            <a:avLst/>
          </a:prstGeom>
          <a:noFill/>
          <a:ln/>
        </p:spPr>
        <p:txBody>
          <a:bodyPr wrap="square" rtlCol="0" anchor="t"/>
          <a:lstStyle/>
          <a:p>
            <a:pPr rtl="1" algn="r" marL="342900" indent="-342900">
              <a:spcAft>
                <a:spcPts val="1300"/>
              </a:spcAft>
              <a:buSzPct val="100000"/>
              <a:buChar char="●"/>
            </a:pPr>
            <a:r>
              <a:rPr lang="ar-SA" altLang="en-US" sz="2600" dirty="0">
                <a:solidFill>
                  <a:srgbClr val="1E1A33"/>
                </a:solidFill>
                <a:latin typeface="Arial" pitchFamily="34" charset="0"/>
                <a:ea typeface="Arial" pitchFamily="34" charset="-122"/>
                <a:cs typeface="Arial" pitchFamily="34" charset="-120"/>
              </a:rPr>
              <a:t>قاعدة واحدة لقراءة مقياس المطر، ولماذا هي مهمة.</a:t>
            </a:r>
            <a:endParaRPr lang="ar-SA" sz="2600" dirty="0"/>
          </a:p>
        </p:txBody>
      </p:sp>
      <p:sp>
        <p:nvSpPr>
          <p:cNvPr id="7" name="Shape 4"/>
          <p:cNvSpPr/>
          <p:nvPr/>
        </p:nvSpPr>
        <p:spPr>
          <a:xfrm>
            <a:off x="822960" y="4572000"/>
            <a:ext cx="10515600" cy="36576"/>
          </a:xfrm>
          <a:prstGeom prst="rect">
            <a:avLst/>
          </a:prstGeom>
          <a:solidFill>
            <a:srgbClr val="EAD9C4"/>
          </a:solidFill>
          <a:ln w="12700">
            <a:solidFill>
              <a:srgbClr val="EAD9C4"/>
            </a:solidFill>
            <a:prstDash val="solid"/>
          </a:ln>
        </p:spPr>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6</Slides>
  <Notes>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6</vt:i4>
      </vt:variant>
    </vt:vector>
  </HeadingPairs>
  <TitlesOfParts>
    <vt:vector size="9" baseType="lpstr">
      <vt:lpstr>Arial</vt:lpstr>
      <vt:lpstr>Calibri</vt:lpstr>
      <vt:lpstr>Office Theme</vt:lpstr>
      <vt:lpstr>Slide 1</vt:lpstr>
      <vt:lpstr>Slide 2</vt:lpstr>
      <vt:lpstr>Slide 3</vt:lpstr>
      <vt:lpstr>Slide 4</vt:lpstr>
      <vt:lpstr>Slide 5</vt:lpstr>
      <vt:lpstr>Slide 6</vt:lpstr>
    </vt:vector>
  </TitlesOfParts>
  <Company>Darsi</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اصنع مقياس مطر</dc:title>
  <dc:subject>PptxGenJS Presentation</dc:subject>
  <dc:creator>Darsi</dc:creator>
  <cp:lastModifiedBy>Darsi</cp:lastModifiedBy>
  <cp:revision>1</cp:revision>
  <dcterms:created xsi:type="dcterms:W3CDTF">2026-10-27T22:35:12Z</dcterms:created>
  <dcterms:modified xsi:type="dcterms:W3CDTF">2026-10-27T22:35:12Z</dcterms:modified>
</cp:coreProperties>
</file>