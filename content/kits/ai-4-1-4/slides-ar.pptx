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صمّم وحدة يدعمها الذكاء الاصطناعي، ١</a:t>
            </a:r>
            <a:endParaRPr lang="ar-SA" sz="1100" dirty="0"/>
          </a:p>
        </p:txBody>
      </p:sp>
      <p:sp>
        <p:nvSpPr>
          <p:cNvPr id="5" name="Shape 2"/>
          <p:cNvSpPr/>
          <p:nvPr/>
        </p:nvSpPr>
        <p:spPr>
          <a:xfrm>
            <a:off x="548640" y="1280160"/>
            <a:ext cx="3474720" cy="3474720"/>
          </a:xfrm>
          <a:prstGeom prst="roundRect">
            <a:avLst>
              <a:gd name="adj" fmla="val 10526"/>
            </a:avLst>
          </a:prstGeom>
          <a:solidFill>
            <a:srgbClr val="FFF0C4"/>
          </a:solidFill>
          <a:ln w="12700">
            <a:solidFill>
              <a:srgbClr val="FFF0C4"/>
            </a:solidFill>
            <a:prstDash val="solid"/>
          </a:ln>
        </p:spPr>
      </p:sp>
      <p:pic>
        <p:nvPicPr>
          <p:cNvPr id="6" name="Image 1" descr="H:\htdocs\darsi\apps\web\public\app-icons\app-icon-192.png">    </p:cNvPr>
          <p:cNvPicPr>
            <a:picLocks noChangeAspect="1"/>
          </p:cNvPicPr>
          <p:nvPr/>
        </p:nvPicPr>
        <p:blipFill>
          <a:blip r:embed="rId2"/>
          <a:stretch>
            <a:fillRect/>
          </a:stretch>
        </p:blipFill>
        <p:spPr>
          <a:xfrm>
            <a:off x="1371600" y="2103120"/>
            <a:ext cx="1828800" cy="1828800"/>
          </a:xfrm>
          <a:prstGeom prst="rect">
            <a:avLst/>
          </a:prstGeom>
        </p:spPr>
      </p:pic>
      <p:sp>
        <p:nvSpPr>
          <p:cNvPr id="7" name="Text 3"/>
          <p:cNvSpPr/>
          <p:nvPr/>
        </p:nvSpPr>
        <p:spPr>
          <a:xfrm>
            <a:off x="4389120" y="1828800"/>
            <a:ext cx="7223760" cy="1828800"/>
          </a:xfrm>
          <a:prstGeom prst="rect">
            <a:avLst/>
          </a:prstGeom>
          <a:noFill/>
          <a:ln/>
        </p:spPr>
        <p:txBody>
          <a:bodyPr wrap="square" rtlCol="0" anchor="ctr"/>
          <a:lstStyle/>
          <a:p>
            <a:pPr rtl="1" algn="r" indent="0" marL="0">
              <a:buNone/>
            </a:pPr>
            <a:r>
              <a:rPr lang="ar-SA" altLang="en-US" sz="5400" b="1" dirty="0">
                <a:solidFill>
                  <a:srgbClr val="1E1A33"/>
                </a:solidFill>
                <a:latin typeface="Arial" pitchFamily="34" charset="0"/>
                <a:ea typeface="Arial" pitchFamily="34" charset="-122"/>
                <a:cs typeface="Arial" pitchFamily="34" charset="-120"/>
              </a:rPr>
              <a:t>صمّم وحدة يدعمها الذكاء الاصطناعي</a:t>
            </a:r>
            <a:endParaRPr lang="ar-SA" sz="5400" dirty="0"/>
          </a:p>
        </p:txBody>
      </p:sp>
      <p:sp>
        <p:nvSpPr>
          <p:cNvPr id="8" name="Text 4"/>
          <p:cNvSpPr/>
          <p:nvPr/>
        </p:nvSpPr>
        <p:spPr>
          <a:xfrm>
            <a:off x="4389120" y="3749040"/>
            <a:ext cx="7223760" cy="548640"/>
          </a:xfrm>
          <a:prstGeom prst="rect">
            <a:avLst/>
          </a:prstGeom>
          <a:noFill/>
          <a:ln/>
        </p:spPr>
        <p:txBody>
          <a:bodyPr wrap="square" rtlCol="0" anchor="ctr"/>
          <a:lstStyle/>
          <a:p>
            <a:pPr rtl="1" algn="r" indent="0" marL="0">
              <a:buNone/>
            </a:pPr>
            <a:r>
              <a:rPr lang="ar-SA" altLang="en-US" sz="2200" b="1" dirty="0">
                <a:solidFill>
                  <a:srgbClr val="7A5000"/>
                </a:solidFill>
                <a:latin typeface="Arial" pitchFamily="34" charset="0"/>
                <a:ea typeface="Arial" pitchFamily="34" charset="-122"/>
                <a:cs typeface="Arial" pitchFamily="34" charset="-120"/>
              </a:rPr>
              <a:t>الذكاء الاصطناعي، المستوى ٤، الدرس ٤</a:t>
            </a:r>
            <a:endParaRPr lang="ar-SA"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صمّم وحدة يدعمها الذكاء الاصطناعي، ٢</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سنتعلّم اليوم</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نجمع بيانات عن أيام دراسية حقيقية في جدول.</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نبني من بياناتنا شجرة قرار من أسئلة «نعم أو لا».</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نختبر شجرتنا ونذكر متى ستخطئ.</a:t>
            </a:r>
            <a:endParaRPr lang="ar-SA"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صمّم وحدة يدعمها الذكاء الاصطناعي، ٣</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تذكّر</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شجرة القرار تقرّر عبر سلسلة من الأسئلة.</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السؤال الجيد يقسم الأيام إلى مجموعات أوضح.</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الشجرة المبنية من أيام قليلة قد تخطئ في أيام جديدة، ونستطيع أن نرى السبب.</a:t>
            </a:r>
            <a:endParaRPr lang="ar-SA"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صمّم وحدة يدعمها الذكاء الاصطناعي، ٤</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شجرة قرار من بياناتنا</a:t>
            </a:r>
            <a:endParaRPr lang="ar-SA" sz="3800" dirty="0"/>
          </a:p>
        </p:txBody>
      </p:sp>
      <p:sp>
        <p:nvSpPr>
          <p:cNvPr id="6" name="Text 3"/>
          <p:cNvSpPr/>
          <p:nvPr/>
        </p:nvSpPr>
        <p:spPr>
          <a:xfrm>
            <a:off x="4160520" y="1691640"/>
            <a:ext cx="7223760" cy="4206240"/>
          </a:xfrm>
          <a:prstGeom prst="rect">
            <a:avLst/>
          </a:prstGeom>
          <a:noFill/>
          <a:ln/>
        </p:spPr>
        <p:txBody>
          <a:bodyPr wrap="square" rtlCol="0" anchor="t"/>
          <a:lstStyle/>
          <a:p>
            <a:pPr rtl="1" algn="r" marL="342900" indent="-342900">
              <a:spcAft>
                <a:spcPts val="1000"/>
              </a:spcAft>
              <a:buSzPct val="100000"/>
              <a:buFont typeface="+mj-lt"/>
              <a:buAutoNum type="arabicPeriod" startAt="1"/>
            </a:pPr>
            <a:r>
              <a:rPr lang="ar-SA" altLang="en-US" sz="1900" dirty="0">
                <a:solidFill>
                  <a:srgbClr val="1E1A33"/>
                </a:solidFill>
                <a:latin typeface="Arial" pitchFamily="34" charset="0"/>
                <a:ea typeface="Arial" pitchFamily="34" charset="-122"/>
                <a:cs typeface="Arial" pitchFamily="34" charset="-120"/>
              </a:rPr>
              <a:t>التمهيد (٥ دقائق): اسأل: ما الذي يحدّد هل نلعب في الخارج وقت الاستراحة؟</a:t>
            </a:r>
            <a:endParaRPr lang="ar-SA" sz="1900" dirty="0"/>
          </a:p>
          <a:p>
            <a:pPr rtl="1" algn="r" marL="342900" indent="-342900">
              <a:spcAft>
                <a:spcPts val="1000"/>
              </a:spcAft>
              <a:buSzPct val="100000"/>
              <a:buFont typeface="+mj-lt"/>
              <a:buAutoNum type="arabicPeriod" startAt="1"/>
            </a:pPr>
            <a:r>
              <a:rPr lang="ar-SA" altLang="en-US" sz="1900" dirty="0">
                <a:solidFill>
                  <a:srgbClr val="1E1A33"/>
                </a:solidFill>
                <a:latin typeface="Arial" pitchFamily="34" charset="0"/>
                <a:ea typeface="Arial" pitchFamily="34" charset="-122"/>
                <a:cs typeface="Arial" pitchFamily="34" charset="-120"/>
              </a:rPr>
              <a:t>البيانات (٨ دقائق): املؤوا جدولًا لآخر عشرة أيام: الطقس، والرياح، وهل لعبنا في الخارج.</a:t>
            </a:r>
            <a:endParaRPr lang="ar-SA" sz="1900" dirty="0"/>
          </a:p>
          <a:p>
            <a:pPr rtl="1" algn="r" marL="342900" indent="-342900">
              <a:spcAft>
                <a:spcPts val="1000"/>
              </a:spcAft>
              <a:buSzPct val="100000"/>
              <a:buFont typeface="+mj-lt"/>
              <a:buAutoNum type="arabicPeriod" startAt="1"/>
            </a:pPr>
            <a:r>
              <a:rPr lang="ar-SA" altLang="en-US" sz="1900" dirty="0">
                <a:solidFill>
                  <a:srgbClr val="1E1A33"/>
                </a:solidFill>
                <a:latin typeface="Arial" pitchFamily="34" charset="0"/>
                <a:ea typeface="Arial" pitchFamily="34" charset="-122"/>
                <a:cs typeface="Arial" pitchFamily="34" charset="-120"/>
              </a:rPr>
              <a:t>البناء (١٤ دقيقة): اختاروا السؤال الذي يفصل «لعبنا» عن «بقينا في الداخل» أفضل فصل، وكرّروا ذلك على كل فرع.</a:t>
            </a:r>
            <a:endParaRPr lang="ar-SA" sz="1900" dirty="0"/>
          </a:p>
          <a:p>
            <a:pPr rtl="1" algn="r" marL="342900" indent="-342900">
              <a:spcAft>
                <a:spcPts val="1000"/>
              </a:spcAft>
              <a:buSzPct val="100000"/>
              <a:buFont typeface="+mj-lt"/>
              <a:buAutoNum type="arabicPeriod" startAt="1"/>
            </a:pPr>
            <a:r>
              <a:rPr lang="ar-SA" altLang="en-US" sz="1900" dirty="0">
                <a:solidFill>
                  <a:srgbClr val="1E1A33"/>
                </a:solidFill>
                <a:latin typeface="Arial" pitchFamily="34" charset="0"/>
                <a:ea typeface="Arial" pitchFamily="34" charset="-122"/>
                <a:cs typeface="Arial" pitchFamily="34" charset="-120"/>
              </a:rPr>
              <a:t>الاختبار (٨ دقائق): توقّعوا بالشجرة يومكم هذا ويومين متخيَّلين، وتحقّقوا مع الصف.</a:t>
            </a:r>
            <a:endParaRPr lang="ar-SA" sz="1900" dirty="0"/>
          </a:p>
          <a:p>
            <a:pPr rtl="1" algn="r" marL="342900" indent="-342900">
              <a:spcAft>
                <a:spcPts val="1000"/>
              </a:spcAft>
              <a:buSzPct val="100000"/>
              <a:buFont typeface="+mj-lt"/>
              <a:buAutoNum type="arabicPeriod" startAt="1"/>
            </a:pPr>
            <a:r>
              <a:rPr lang="ar-SA" altLang="en-US" sz="1900" dirty="0">
                <a:solidFill>
                  <a:srgbClr val="1E1A33"/>
                </a:solidFill>
                <a:latin typeface="Arial" pitchFamily="34" charset="0"/>
                <a:ea typeface="Arial" pitchFamily="34" charset="-122"/>
                <a:cs typeface="Arial" pitchFamily="34" charset="-120"/>
              </a:rPr>
              <a:t>الختام (٥ دقائق): اسأل: متى ستخطئ الشجرة، وما البيانات التي قد تحسّنها؟</a:t>
            </a:r>
            <a:endParaRPr lang="ar-SA" sz="1900" dirty="0"/>
          </a:p>
        </p:txBody>
      </p:sp>
      <p:sp>
        <p:nvSpPr>
          <p:cNvPr id="7" name="Shape 4"/>
          <p:cNvSpPr/>
          <p:nvPr/>
        </p:nvSpPr>
        <p:spPr>
          <a:xfrm>
            <a:off x="640080" y="1783080"/>
            <a:ext cx="3246120" cy="4023360"/>
          </a:xfrm>
          <a:prstGeom prst="roundRect">
            <a:avLst>
              <a:gd name="adj" fmla="val 5634"/>
            </a:avLst>
          </a:prstGeom>
          <a:solidFill>
            <a:srgbClr val="FFE2D2"/>
          </a:solidFill>
          <a:ln w="25400">
            <a:solidFill>
              <a:srgbClr val="FF6A2B"/>
            </a:solidFill>
            <a:prstDash val="solid"/>
          </a:ln>
        </p:spPr>
      </p:sp>
      <p:sp>
        <p:nvSpPr>
          <p:cNvPr id="8" name="Text 5"/>
          <p:cNvSpPr/>
          <p:nvPr/>
        </p:nvSpPr>
        <p:spPr>
          <a:xfrm>
            <a:off x="777240" y="1874520"/>
            <a:ext cx="2971800" cy="3840480"/>
          </a:xfrm>
          <a:prstGeom prst="rect">
            <a:avLst/>
          </a:prstGeom>
          <a:noFill/>
          <a:ln/>
        </p:spPr>
        <p:txBody>
          <a:bodyPr wrap="square" rtlCol="0" anchor="ctr"/>
          <a:lstStyle/>
          <a:p>
            <a:pPr rtl="1" algn="ctr" indent="0" marL="0">
              <a:buNone/>
            </a:pPr>
            <a:r>
              <a:rPr lang="ar-SA" altLang="en-US" sz="1200" b="1" dirty="0">
                <a:solidFill>
                  <a:srgbClr val="1E1A33"/>
                </a:solidFill>
                <a:latin typeface="Arial" pitchFamily="34" charset="0"/>
                <a:ea typeface="Arial" pitchFamily="34" charset="-122"/>
                <a:cs typeface="Arial" pitchFamily="34" charset="-120"/>
              </a:rPr>
              <a:t>جهّز جدولًا لنحو عشرة أيام تحسّبًا لألّا يتذكّرها الصف؛ فالأيام الحقيقية أفضل، لكن المتخيَّلة تفي بالغرض. واكتفِ بخاصيتين أو ثلاث بقيم بسيطة. وعند كل فرع، عُدّ الأيام التي لعبنا فيها والتي بقينا فيها في الداخل: فأفضل سؤال يجعل كل جانب أقل اختلاطًا قدر الإمكان. وإذا تشابه يومان في الطقس والرياح واختلفت إجابتاهما، فلا سؤال يستطيع الفصل بينهما: عدّوه يومًا تخطئ فيه الشجرة، واسألوا: ما الذي اختلف أيضًا (امتحان، أو المعلّم المناوب)؟</a:t>
            </a:r>
            <a:endParaRPr lang="ar-SA"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صمّم وحدة يدعمها الذكاء الاصطناعي، ٥</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لنتناقش</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ما السؤال الذي طرحته شجرتنا أولًا، ولماذا؟</a:t>
            </a:r>
            <a:endParaRPr lang="ar-SA" sz="2600" dirty="0"/>
          </a:p>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متى ستعطي شجرتنا إجابة خاطئة؟</a:t>
            </a:r>
            <a:endParaRPr lang="ar-SA" sz="2600" dirty="0"/>
          </a:p>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هل الوثوق بنموذج تستطيع قراءته أسهل من نموذج لا تستطيع قراءته؟ ولماذا؟</a:t>
            </a:r>
            <a:endParaRPr lang="ar-SA"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FFC53D"/>
          </a:solidFill>
          <a:ln w="12700">
            <a:solidFill>
              <a:srgbClr val="FFC53D"/>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صمّم وحدة يدعمها الذكاء الاصطناعي، ٦</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بطاقة الخروج</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سؤال واحد تطرحه شجرتنا، ويوم واحد ستخطئ فيه.</a:t>
            </a:r>
            <a:endParaRPr lang="ar-SA" sz="2600" dirty="0"/>
          </a:p>
        </p:txBody>
      </p:sp>
      <p:sp>
        <p:nvSpPr>
          <p:cNvPr id="7" name="Shape 4"/>
          <p:cNvSpPr/>
          <p:nvPr/>
        </p:nvSpPr>
        <p:spPr>
          <a:xfrm>
            <a:off x="822960" y="4572000"/>
            <a:ext cx="10515600" cy="36576"/>
          </a:xfrm>
          <a:prstGeom prst="rect">
            <a:avLst/>
          </a:prstGeom>
          <a:solidFill>
            <a:srgbClr val="EAD9C4"/>
          </a:solidFill>
          <a:ln w="12700">
            <a:solidFill>
              <a:srgbClr val="EAD9C4"/>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Darsi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صمّم وحدة يدعمها الذكاء الاصطناعي</dc:title>
  <dc:subject>PptxGenJS Presentation</dc:subject>
  <dc:creator>Darsi</dc:creator>
  <cp:lastModifiedBy>Darsi</cp:lastModifiedBy>
  <cp:revision>1</cp:revision>
  <dcterms:created xsi:type="dcterms:W3CDTF">2026-10-28T12:22:01Z</dcterms:created>
  <dcterms:modified xsi:type="dcterms:W3CDTF">2026-10-28T12:22:01Z</dcterms:modified>
</cp:coreProperties>
</file>