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تسجيل بيانات يمكن الوثوق بها، ١</a:t>
            </a:r>
            <a:endParaRPr lang="ar-SA" sz="1100" dirty="0"/>
          </a:p>
        </p:txBody>
      </p:sp>
      <p:sp>
        <p:nvSpPr>
          <p:cNvPr id="5" name="Shape 2"/>
          <p:cNvSpPr/>
          <p:nvPr/>
        </p:nvSpPr>
        <p:spPr>
          <a:xfrm>
            <a:off x="548640" y="1280160"/>
            <a:ext cx="3474720" cy="3474720"/>
          </a:xfrm>
          <a:prstGeom prst="roundRect">
            <a:avLst>
              <a:gd name="adj" fmla="val 10526"/>
            </a:avLst>
          </a:prstGeom>
          <a:solidFill>
            <a:srgbClr val="CCF2EC"/>
          </a:solidFill>
          <a:ln w="12700">
            <a:solidFill>
              <a:srgbClr val="CCF2EC"/>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1371600" y="2103120"/>
            <a:ext cx="1828800" cy="1828800"/>
          </a:xfrm>
          <a:prstGeom prst="rect">
            <a:avLst/>
          </a:prstGeom>
        </p:spPr>
      </p:pic>
      <p:sp>
        <p:nvSpPr>
          <p:cNvPr id="7" name="Text 3"/>
          <p:cNvSpPr/>
          <p:nvPr/>
        </p:nvSpPr>
        <p:spPr>
          <a:xfrm>
            <a:off x="4389120" y="1828800"/>
            <a:ext cx="7223760" cy="1828800"/>
          </a:xfrm>
          <a:prstGeom prst="rect">
            <a:avLst/>
          </a:prstGeom>
          <a:noFill/>
          <a:ln/>
        </p:spPr>
        <p:txBody>
          <a:bodyPr wrap="square" rtlCol="0" anchor="ctr"/>
          <a:lstStyle/>
          <a:p>
            <a:pPr rtl="1" algn="r" indent="0" marL="0">
              <a:buNone/>
            </a:pPr>
            <a:r>
              <a:rPr lang="ar-SA" altLang="en-US" sz="5400" b="1" dirty="0">
                <a:solidFill>
                  <a:srgbClr val="1E1A33"/>
                </a:solidFill>
                <a:latin typeface="Arial" pitchFamily="34" charset="0"/>
                <a:ea typeface="Arial" pitchFamily="34" charset="-122"/>
                <a:cs typeface="Arial" pitchFamily="34" charset="-120"/>
              </a:rPr>
              <a:t>تسجيل بيانات يمكن الوثوق بها</a:t>
            </a:r>
            <a:endParaRPr lang="ar-SA" sz="5400" dirty="0"/>
          </a:p>
        </p:txBody>
      </p:sp>
      <p:sp>
        <p:nvSpPr>
          <p:cNvPr id="8" name="Text 4"/>
          <p:cNvSpPr/>
          <p:nvPr/>
        </p:nvSpPr>
        <p:spPr>
          <a:xfrm>
            <a:off x="4389120" y="3749040"/>
            <a:ext cx="7223760" cy="548640"/>
          </a:xfrm>
          <a:prstGeom prst="rect">
            <a:avLst/>
          </a:prstGeom>
          <a:noFill/>
          <a:ln/>
        </p:spPr>
        <p:txBody>
          <a:bodyPr wrap="square" rtlCol="0" anchor="ctr"/>
          <a:lstStyle/>
          <a:p>
            <a:pPr rtl="1" algn="r" indent="0" marL="0">
              <a:buNone/>
            </a:pPr>
            <a:r>
              <a:rPr lang="ar-SA" altLang="en-US" sz="2200" b="1" dirty="0">
                <a:solidFill>
                  <a:srgbClr val="065F56"/>
                </a:solidFill>
                <a:latin typeface="Arial" pitchFamily="34" charset="0"/>
                <a:ea typeface="Arial" pitchFamily="34" charset="-122"/>
                <a:cs typeface="Arial" pitchFamily="34" charset="-120"/>
              </a:rPr>
              <a:t>إنترنت الأشياء، المستوى ٣، الدرس ١</a:t>
            </a:r>
            <a:endParaRPr lang="ar-SA"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تسجيل بيانات يمكن الوثوق بها، ٢</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سنتعلّم اليوم</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نخطّط لسجل بيانات: ماذا نقيس، وأين، وكم مرة، مع وقت ووحدة لكل قراءة.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نختبر المستشعر بمقارنته بمرجع موثوق قبل أن نثق به.</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ننظّف القراءات الخاطئة بشفافية، ونستعمل الوسيط حين تشدّ قراءاتٌ خاطئة قليلة المتوسطَ.</a:t>
            </a:r>
            <a:endParaRPr lang="ar-SA"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تسجيل بيانات يمكن الوثوق بها، ٣</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بيانات يمكن الوثوق بها</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ابدأ بسؤال</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وقت ووحدة ومكان لكل قراءة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قارن بمرجع موثوق</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نظّف بشفافية، واذكر الوسيط</a:t>
            </a:r>
            <a:endParaRPr lang="ar-SA"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تسجيل بيانات يمكن الوثوق بها، ٤</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سجل ورقي بالتناوب</a:t>
            </a:r>
            <a:endParaRPr lang="ar-SA" sz="3800" dirty="0"/>
          </a:p>
        </p:txBody>
      </p:sp>
      <p:sp>
        <p:nvSpPr>
          <p:cNvPr id="6" name="Text 3"/>
          <p:cNvSpPr/>
          <p:nvPr/>
        </p:nvSpPr>
        <p:spPr>
          <a:xfrm>
            <a:off x="4160520" y="1691640"/>
            <a:ext cx="7223760" cy="4206240"/>
          </a:xfrm>
          <a:prstGeom prst="rect">
            <a:avLst/>
          </a:prstGeom>
          <a:noFill/>
          <a:ln/>
        </p:spPr>
        <p:txBody>
          <a:bodyPr wrap="square" rtlCol="0" anchor="t"/>
          <a:lstStyle/>
          <a:p>
            <a:pPr rtl="1" algn="r" marL="342900" indent="-342900">
              <a:spcAft>
                <a:spcPts val="1100"/>
              </a:spcAft>
              <a:buSzPct val="100000"/>
              <a:buFont typeface="+mj-lt"/>
              <a:buAutoNum type="arabicPeriod" startAt="1"/>
            </a:pPr>
            <a:r>
              <a:rPr lang="ar-SA" altLang="en-US" sz="2200" dirty="0">
                <a:solidFill>
                  <a:srgbClr val="1E1A33"/>
                </a:solidFill>
                <a:latin typeface="Arial" pitchFamily="34" charset="0"/>
                <a:ea typeface="Arial" pitchFamily="34" charset="-122"/>
                <a:cs typeface="Arial" pitchFamily="34" charset="-120"/>
              </a:rPr>
              <a:t>تمهيد (٥ دقائق): اعرض «٨٥ °س الساعة ٧ صباحًا». هل يمكن أن يكون صحيحًا؟</a:t>
            </a:r>
            <a:endParaRPr lang="ar-SA" sz="2200" dirty="0"/>
          </a:p>
          <a:p>
            <a:pPr rtl="1" algn="r" marL="342900" indent="-342900">
              <a:spcAft>
                <a:spcPts val="1100"/>
              </a:spcAft>
              <a:buSzPct val="100000"/>
              <a:buFont typeface="+mj-lt"/>
              <a:buAutoNum type="arabicPeriod" startAt="1"/>
            </a:pPr>
            <a:r>
              <a:rPr lang="ar-SA" altLang="en-US" sz="2200" dirty="0">
                <a:solidFill>
                  <a:srgbClr val="1E1A33"/>
                </a:solidFill>
                <a:latin typeface="Arial" pitchFamily="34" charset="0"/>
                <a:ea typeface="Arial" pitchFamily="34" charset="-122"/>
                <a:cs typeface="Arial" pitchFamily="34" charset="-120"/>
              </a:rPr>
              <a:t>التخطيط (٨ دقائق): اتفقوا على السؤال: ماذا، وأين، وكم مرة.</a:t>
            </a:r>
            <a:endParaRPr lang="ar-SA" sz="2200" dirty="0"/>
          </a:p>
          <a:p>
            <a:pPr rtl="1" algn="r" marL="342900" indent="-342900">
              <a:spcAft>
                <a:spcPts val="1100"/>
              </a:spcAft>
              <a:buSzPct val="100000"/>
              <a:buFont typeface="+mj-lt"/>
              <a:buAutoNum type="arabicPeriod" startAt="1"/>
            </a:pPr>
            <a:r>
              <a:rPr lang="ar-SA" altLang="en-US" sz="2200" dirty="0">
                <a:solidFill>
                  <a:srgbClr val="1E1A33"/>
                </a:solidFill>
                <a:latin typeface="Arial" pitchFamily="34" charset="0"/>
                <a:ea typeface="Arial" pitchFamily="34" charset="-122"/>
                <a:cs typeface="Arial" pitchFamily="34" charset="-120"/>
              </a:rPr>
              <a:t>الاختبار (٧ دقائق): اقرؤوا مقياسَي حرارة جنبًا إلى جنب.</a:t>
            </a:r>
            <a:endParaRPr lang="ar-SA" sz="2200" dirty="0"/>
          </a:p>
          <a:p>
            <a:pPr rtl="1" algn="r" marL="342900" indent="-342900">
              <a:spcAft>
                <a:spcPts val="1100"/>
              </a:spcAft>
              <a:buSzPct val="100000"/>
              <a:buFont typeface="+mj-lt"/>
              <a:buAutoNum type="arabicPeriod" startAt="1"/>
            </a:pPr>
            <a:r>
              <a:rPr lang="ar-SA" altLang="en-US" sz="2200" dirty="0">
                <a:solidFill>
                  <a:srgbClr val="1E1A33"/>
                </a:solidFill>
                <a:latin typeface="Arial" pitchFamily="34" charset="0"/>
                <a:ea typeface="Arial" pitchFamily="34" charset="-122"/>
                <a:cs typeface="Arial" pitchFamily="34" charset="-120"/>
              </a:rPr>
              <a:t>التسجيل (١٢ دقيقة): ابدؤوا جدول التناوب، وتدرّبوا على قراءات بوقتها ووحدتها.</a:t>
            </a:r>
            <a:endParaRPr lang="ar-SA" sz="2200" dirty="0"/>
          </a:p>
          <a:p>
            <a:pPr rtl="1" algn="r" marL="342900" indent="-342900">
              <a:spcAft>
                <a:spcPts val="1100"/>
              </a:spcAft>
              <a:buSzPct val="100000"/>
              <a:buFont typeface="+mj-lt"/>
              <a:buAutoNum type="arabicPeriod" startAt="1"/>
            </a:pPr>
            <a:r>
              <a:rPr lang="ar-SA" altLang="en-US" sz="2200" dirty="0">
                <a:solidFill>
                  <a:srgbClr val="1E1A33"/>
                </a:solidFill>
                <a:latin typeface="Arial" pitchFamily="34" charset="0"/>
                <a:ea typeface="Arial" pitchFamily="34" charset="-122"/>
                <a:cs typeface="Arial" pitchFamily="34" charset="-120"/>
              </a:rPr>
              <a:t>الختام (٨ دقائق): رتّبوا قراءات نموذجية، واستخرجوا الوسيط.</a:t>
            </a:r>
            <a:endParaRPr lang="ar-SA" sz="2200" dirty="0"/>
          </a:p>
        </p:txBody>
      </p:sp>
      <p:sp>
        <p:nvSpPr>
          <p:cNvPr id="7" name="Shape 4"/>
          <p:cNvSpPr/>
          <p:nvPr/>
        </p:nvSpPr>
        <p:spPr>
          <a:xfrm>
            <a:off x="64008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777240" y="1874520"/>
            <a:ext cx="2971800" cy="3840480"/>
          </a:xfrm>
          <a:prstGeom prst="rect">
            <a:avLst/>
          </a:prstGeom>
          <a:noFill/>
          <a:ln/>
        </p:spPr>
        <p:txBody>
          <a:bodyPr wrap="square" rtlCol="0" anchor="ctr"/>
          <a:lstStyle/>
          <a:p>
            <a:pPr rtl="1" algn="ctr" indent="0" marL="0">
              <a:buNone/>
            </a:pPr>
            <a:r>
              <a:rPr lang="ar-SA" altLang="en-US" sz="1300" b="1" dirty="0">
                <a:solidFill>
                  <a:srgbClr val="1E1A33"/>
                </a:solidFill>
                <a:latin typeface="Arial" pitchFamily="34" charset="0"/>
                <a:ea typeface="Arial" pitchFamily="34" charset="-122"/>
                <a:cs typeface="Arial" pitchFamily="34" charset="-120"/>
              </a:rPr>
              <a:t>قبل الحصة، علّق مقياس الحرارة في الظل على ارتفاع الطاولات، وتأكّد أن الطلاب يستطيعون قراءته. استعمل مقياسًا بمؤشّر أو رقميًا مع الطلاب الصغار، وإن انكسر مقياس زجاجي فليجمعه شخص بالغ. وإن استعملت لوحة مستشعرات، فشغّلها بالبطاريات وحدها.</a:t>
            </a:r>
            <a:endParaRPr lang="ar-SA"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تسجيل بيانات يمكن الوثوق بها، ٥</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لنتناقش</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أين أيضًا في المدرسة قد تُضلّل قراءةٌ خاطئة قرارًا ما؟</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متى يجب أن تبقى القراءة المفاجئة في البيانات؟</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من ينبغي أن يستطيع مراجعة طريقة تنظيف البيانات؟</a:t>
            </a:r>
            <a:endParaRPr lang="ar-SA"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تسجيل بيانات يمكن الوثوق بها، ٦</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بطاقة الخروج</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القراءات: ٣٠، ٢٨، ٨٥، ٣١، ٢٩ °س. ما الوسيط، وماذا تكتب في ملاحظة التنظيف؟</a:t>
            </a:r>
            <a:endParaRPr lang="ar-SA"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تسجيل بيانات يمكن الوثوق بها</dc:title>
  <dc:subject>PptxGenJS Presentation</dc:subject>
  <dc:creator>Darsi</dc:creator>
  <cp:lastModifiedBy>Darsi</cp:lastModifiedBy>
  <cp:revision>1</cp:revision>
  <dcterms:created xsi:type="dcterms:W3CDTF">2026-10-28T12:56:16Z</dcterms:created>
  <dcterms:modified xsi:type="dcterms:W3CDTF">2026-10-28T12:56:16Z</dcterms:modified>
</cp:coreProperties>
</file>