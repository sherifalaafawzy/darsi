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1.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FFC53D"/>
          </a:solidFill>
          <a:ln w="12700">
            <a:solidFill>
              <a:srgbClr val="FFC53D"/>
            </a:solidFill>
            <a:prstDash val="solid"/>
          </a:ln>
        </p:spPr>
      </p:sp>
      <p:pic>
        <p:nvPicPr>
          <p:cNvPr id="3" name="Image 0" descr="H:\htdocs\darsi\apps\web\public\app-icons\app-icon-192.png">    </p:cNvPr>
          <p:cNvPicPr>
            <a:picLocks noChangeAspect="1"/>
          </p:cNvPicPr>
          <p:nvPr/>
        </p:nvPicPr>
        <p:blipFill>
          <a:blip r:embed="rId1"/>
          <a:stretch>
            <a:fillRect/>
          </a:stretch>
        </p:blipFill>
        <p:spPr>
          <a:xfrm>
            <a:off x="411480" y="6172200"/>
            <a:ext cx="457200" cy="457200"/>
          </a:xfrm>
          <a:prstGeom prst="rect">
            <a:avLst/>
          </a:prstGeom>
        </p:spPr>
      </p:pic>
      <p:sp>
        <p:nvSpPr>
          <p:cNvPr id="4" name="Text 1"/>
          <p:cNvSpPr/>
          <p:nvPr/>
        </p:nvSpPr>
        <p:spPr>
          <a:xfrm>
            <a:off x="1005840" y="6236208"/>
            <a:ext cx="10698480" cy="365760"/>
          </a:xfrm>
          <a:prstGeom prst="rect">
            <a:avLst/>
          </a:prstGeom>
          <a:noFill/>
          <a:ln/>
        </p:spPr>
        <p:txBody>
          <a:bodyPr wrap="square" rtlCol="0" anchor="ctr"/>
          <a:lstStyle/>
          <a:p>
            <a:pPr rtl="1" algn="r" indent="0" marL="0">
              <a:buNone/>
            </a:pPr>
            <a:r>
              <a:rPr lang="ar-SA" altLang="en-US" sz="1100" dirty="0">
                <a:solidFill>
                  <a:srgbClr val="5C5470"/>
                </a:solidFill>
                <a:latin typeface="Arial" pitchFamily="34" charset="0"/>
                <a:ea typeface="Arial" pitchFamily="34" charset="-122"/>
                <a:cs typeface="Arial" pitchFamily="34" charset="-120"/>
              </a:rPr>
              <a:t>درسي — يُسمح بنسخها لمدرستك مجانًا، سياسة الذكاء الاصطناعي في مدرستك، ١</a:t>
            </a:r>
            <a:endParaRPr lang="ar-SA" sz="1100" dirty="0"/>
          </a:p>
        </p:txBody>
      </p:sp>
      <p:sp>
        <p:nvSpPr>
          <p:cNvPr id="5" name="Shape 2"/>
          <p:cNvSpPr/>
          <p:nvPr/>
        </p:nvSpPr>
        <p:spPr>
          <a:xfrm>
            <a:off x="548640" y="1280160"/>
            <a:ext cx="3474720" cy="3474720"/>
          </a:xfrm>
          <a:prstGeom prst="roundRect">
            <a:avLst>
              <a:gd name="adj" fmla="val 10526"/>
            </a:avLst>
          </a:prstGeom>
          <a:solidFill>
            <a:srgbClr val="FFF0C4"/>
          </a:solidFill>
          <a:ln w="12700">
            <a:solidFill>
              <a:srgbClr val="FFF0C4"/>
            </a:solidFill>
            <a:prstDash val="solid"/>
          </a:ln>
        </p:spPr>
      </p:sp>
      <p:pic>
        <p:nvPicPr>
          <p:cNvPr id="6" name="Image 1" descr="H:\htdocs\darsi\apps\web\public\app-icons\app-icon-192.png">    </p:cNvPr>
          <p:cNvPicPr>
            <a:picLocks noChangeAspect="1"/>
          </p:cNvPicPr>
          <p:nvPr/>
        </p:nvPicPr>
        <p:blipFill>
          <a:blip r:embed="rId2"/>
          <a:stretch>
            <a:fillRect/>
          </a:stretch>
        </p:blipFill>
        <p:spPr>
          <a:xfrm>
            <a:off x="1371600" y="2103120"/>
            <a:ext cx="1828800" cy="1828800"/>
          </a:xfrm>
          <a:prstGeom prst="rect">
            <a:avLst/>
          </a:prstGeom>
        </p:spPr>
      </p:pic>
      <p:sp>
        <p:nvSpPr>
          <p:cNvPr id="7" name="Text 3"/>
          <p:cNvSpPr/>
          <p:nvPr/>
        </p:nvSpPr>
        <p:spPr>
          <a:xfrm>
            <a:off x="4389120" y="1828800"/>
            <a:ext cx="7223760" cy="1828800"/>
          </a:xfrm>
          <a:prstGeom prst="rect">
            <a:avLst/>
          </a:prstGeom>
          <a:noFill/>
          <a:ln/>
        </p:spPr>
        <p:txBody>
          <a:bodyPr wrap="square" rtlCol="0" anchor="ctr"/>
          <a:lstStyle/>
          <a:p>
            <a:pPr rtl="1" algn="r" indent="0" marL="0">
              <a:buNone/>
            </a:pPr>
            <a:r>
              <a:rPr lang="ar-SA" altLang="en-US" sz="5400" b="1" dirty="0">
                <a:solidFill>
                  <a:srgbClr val="1E1A33"/>
                </a:solidFill>
                <a:latin typeface="Arial" pitchFamily="34" charset="0"/>
                <a:ea typeface="Arial" pitchFamily="34" charset="-122"/>
                <a:cs typeface="Arial" pitchFamily="34" charset="-120"/>
              </a:rPr>
              <a:t>سياسة الذكاء الاصطناعي في مدرستك</a:t>
            </a:r>
            <a:endParaRPr lang="ar-SA" sz="5400" dirty="0"/>
          </a:p>
        </p:txBody>
      </p:sp>
      <p:sp>
        <p:nvSpPr>
          <p:cNvPr id="8" name="Text 4"/>
          <p:cNvSpPr/>
          <p:nvPr/>
        </p:nvSpPr>
        <p:spPr>
          <a:xfrm>
            <a:off x="4389120" y="3749040"/>
            <a:ext cx="7223760" cy="548640"/>
          </a:xfrm>
          <a:prstGeom prst="rect">
            <a:avLst/>
          </a:prstGeom>
          <a:noFill/>
          <a:ln/>
        </p:spPr>
        <p:txBody>
          <a:bodyPr wrap="square" rtlCol="0" anchor="ctr"/>
          <a:lstStyle/>
          <a:p>
            <a:pPr rtl="1" algn="r" indent="0" marL="0">
              <a:buNone/>
            </a:pPr>
            <a:r>
              <a:rPr lang="ar-SA" altLang="en-US" sz="2200" b="1" dirty="0">
                <a:solidFill>
                  <a:srgbClr val="7A5000"/>
                </a:solidFill>
                <a:latin typeface="Arial" pitchFamily="34" charset="0"/>
                <a:ea typeface="Arial" pitchFamily="34" charset="-122"/>
                <a:cs typeface="Arial" pitchFamily="34" charset="-120"/>
              </a:rPr>
              <a:t>الذكاء الاصطناعي، المستوى ٤، الدرس ٢</a:t>
            </a:r>
            <a:endParaRPr lang="ar-SA"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FFC53D"/>
          </a:solidFill>
          <a:ln w="12700">
            <a:solidFill>
              <a:srgbClr val="FFC53D"/>
            </a:solidFill>
            <a:prstDash val="solid"/>
          </a:ln>
        </p:spPr>
      </p:sp>
      <p:pic>
        <p:nvPicPr>
          <p:cNvPr id="3" name="Image 0" descr="H:\htdocs\darsi\apps\web\public\app-icons\app-icon-192.png">    </p:cNvPr>
          <p:cNvPicPr>
            <a:picLocks noChangeAspect="1"/>
          </p:cNvPicPr>
          <p:nvPr/>
        </p:nvPicPr>
        <p:blipFill>
          <a:blip r:embed="rId1"/>
          <a:stretch>
            <a:fillRect/>
          </a:stretch>
        </p:blipFill>
        <p:spPr>
          <a:xfrm>
            <a:off x="411480" y="6172200"/>
            <a:ext cx="457200" cy="457200"/>
          </a:xfrm>
          <a:prstGeom prst="rect">
            <a:avLst/>
          </a:prstGeom>
        </p:spPr>
      </p:pic>
      <p:sp>
        <p:nvSpPr>
          <p:cNvPr id="4" name="Text 1"/>
          <p:cNvSpPr/>
          <p:nvPr/>
        </p:nvSpPr>
        <p:spPr>
          <a:xfrm>
            <a:off x="1005840" y="6236208"/>
            <a:ext cx="10698480" cy="365760"/>
          </a:xfrm>
          <a:prstGeom prst="rect">
            <a:avLst/>
          </a:prstGeom>
          <a:noFill/>
          <a:ln/>
        </p:spPr>
        <p:txBody>
          <a:bodyPr wrap="square" rtlCol="0" anchor="ctr"/>
          <a:lstStyle/>
          <a:p>
            <a:pPr rtl="1" algn="r" indent="0" marL="0">
              <a:buNone/>
            </a:pPr>
            <a:r>
              <a:rPr lang="ar-SA" altLang="en-US" sz="1100" dirty="0">
                <a:solidFill>
                  <a:srgbClr val="5C5470"/>
                </a:solidFill>
                <a:latin typeface="Arial" pitchFamily="34" charset="0"/>
                <a:ea typeface="Arial" pitchFamily="34" charset="-122"/>
                <a:cs typeface="Arial" pitchFamily="34" charset="-120"/>
              </a:rPr>
              <a:t>درسي — يُسمح بنسخها لمدرستك مجانًا، سياسة الذكاء الاصطناعي في مدرستك، ٢</a:t>
            </a:r>
            <a:endParaRPr lang="ar-SA" sz="1100" dirty="0"/>
          </a:p>
        </p:txBody>
      </p:sp>
      <p:sp>
        <p:nvSpPr>
          <p:cNvPr id="5" name="Text 2"/>
          <p:cNvSpPr/>
          <p:nvPr/>
        </p:nvSpPr>
        <p:spPr>
          <a:xfrm>
            <a:off x="640080" y="594360"/>
            <a:ext cx="10881360" cy="914400"/>
          </a:xfrm>
          <a:prstGeom prst="rect">
            <a:avLst/>
          </a:prstGeom>
          <a:noFill/>
          <a:ln/>
        </p:spPr>
        <p:txBody>
          <a:bodyPr wrap="square" rtlCol="0" anchor="ctr"/>
          <a:lstStyle/>
          <a:p>
            <a:pPr rtl="1" algn="r" indent="0" marL="0">
              <a:buNone/>
            </a:pPr>
            <a:r>
              <a:rPr lang="ar-SA" altLang="en-US" sz="3800" b="1" dirty="0">
                <a:solidFill>
                  <a:srgbClr val="1E1A33"/>
                </a:solidFill>
                <a:latin typeface="Arial" pitchFamily="34" charset="0"/>
                <a:ea typeface="Arial" pitchFamily="34" charset="-122"/>
                <a:cs typeface="Arial" pitchFamily="34" charset="-120"/>
              </a:rPr>
              <a:t>سنتعلّم اليوم</a:t>
            </a:r>
            <a:endParaRPr lang="ar-SA" sz="3800" dirty="0"/>
          </a:p>
        </p:txBody>
      </p:sp>
      <p:sp>
        <p:nvSpPr>
          <p:cNvPr id="6" name="Text 3"/>
          <p:cNvSpPr/>
          <p:nvPr/>
        </p:nvSpPr>
        <p:spPr>
          <a:xfrm>
            <a:off x="822960" y="1691640"/>
            <a:ext cx="10515600" cy="4206240"/>
          </a:xfrm>
          <a:prstGeom prst="rect">
            <a:avLst/>
          </a:prstGeom>
          <a:noFill/>
          <a:ln/>
        </p:spPr>
        <p:txBody>
          <a:bodyPr wrap="square" rtlCol="0" anchor="t"/>
          <a:lstStyle/>
          <a:p>
            <a:pPr rtl="1" algn="r" marL="342900" indent="-342900">
              <a:spcAft>
                <a:spcPts val="1300"/>
              </a:spcAft>
              <a:buSzPct val="100000"/>
              <a:buChar char="●"/>
            </a:pPr>
            <a:r>
              <a:rPr lang="ar-SA" altLang="en-US" sz="2600" dirty="0">
                <a:solidFill>
                  <a:srgbClr val="1E1A33"/>
                </a:solidFill>
                <a:latin typeface="Arial" pitchFamily="34" charset="0"/>
                <a:ea typeface="Arial" pitchFamily="34" charset="-122"/>
                <a:cs typeface="Arial" pitchFamily="34" charset="-120"/>
              </a:rPr>
              <a:t>نقترح قواعد لاستخدام الذكاء الاصطناعي في صفّنا، مع سبب لكل قاعدة.</a:t>
            </a:r>
            <a:endParaRPr lang="ar-SA" sz="2600" dirty="0"/>
          </a:p>
          <a:p>
            <a:pPr rtl="1" algn="r" marL="342900" indent="-342900">
              <a:spcAft>
                <a:spcPts val="1300"/>
              </a:spcAft>
              <a:buSzPct val="100000"/>
              <a:buChar char="●"/>
            </a:pPr>
            <a:r>
              <a:rPr lang="ar-SA" altLang="en-US" sz="2600" dirty="0">
                <a:solidFill>
                  <a:srgbClr val="1E1A33"/>
                </a:solidFill>
                <a:latin typeface="Arial" pitchFamily="34" charset="0"/>
                <a:ea typeface="Arial" pitchFamily="34" charset="-122"/>
                <a:cs typeface="Arial" pitchFamily="34" charset="-120"/>
              </a:rPr>
              <a:t>نتفق معًا على خمس قواعد ونصوّت على صياغتها.</a:t>
            </a:r>
            <a:endParaRPr lang="ar-SA" sz="2600" dirty="0"/>
          </a:p>
          <a:p>
            <a:pPr rtl="1" algn="r" marL="342900" indent="-342900">
              <a:spcAft>
                <a:spcPts val="1300"/>
              </a:spcAft>
              <a:buSzPct val="100000"/>
              <a:buChar char="●"/>
            </a:pPr>
            <a:r>
              <a:rPr lang="ar-SA" altLang="en-US" sz="2600" dirty="0">
                <a:solidFill>
                  <a:srgbClr val="1E1A33"/>
                </a:solidFill>
                <a:latin typeface="Arial" pitchFamily="34" charset="0"/>
                <a:ea typeface="Arial" pitchFamily="34" charset="-122"/>
                <a:cs typeface="Arial" pitchFamily="34" charset="-120"/>
              </a:rPr>
              <a:t>نشرح كيف تحافظ قواعدنا على أمانة التعلّم وسلامة الناس.</a:t>
            </a:r>
            <a:endParaRPr lang="ar-SA" sz="2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FFC53D"/>
          </a:solidFill>
          <a:ln w="12700">
            <a:solidFill>
              <a:srgbClr val="FFC53D"/>
            </a:solidFill>
            <a:prstDash val="solid"/>
          </a:ln>
        </p:spPr>
      </p:sp>
      <p:pic>
        <p:nvPicPr>
          <p:cNvPr id="3" name="Image 0" descr="H:\htdocs\darsi\apps\web\public\app-icons\app-icon-192.png">    </p:cNvPr>
          <p:cNvPicPr>
            <a:picLocks noChangeAspect="1"/>
          </p:cNvPicPr>
          <p:nvPr/>
        </p:nvPicPr>
        <p:blipFill>
          <a:blip r:embed="rId1"/>
          <a:stretch>
            <a:fillRect/>
          </a:stretch>
        </p:blipFill>
        <p:spPr>
          <a:xfrm>
            <a:off x="411480" y="6172200"/>
            <a:ext cx="457200" cy="457200"/>
          </a:xfrm>
          <a:prstGeom prst="rect">
            <a:avLst/>
          </a:prstGeom>
        </p:spPr>
      </p:pic>
      <p:sp>
        <p:nvSpPr>
          <p:cNvPr id="4" name="Text 1"/>
          <p:cNvSpPr/>
          <p:nvPr/>
        </p:nvSpPr>
        <p:spPr>
          <a:xfrm>
            <a:off x="1005840" y="6236208"/>
            <a:ext cx="10698480" cy="365760"/>
          </a:xfrm>
          <a:prstGeom prst="rect">
            <a:avLst/>
          </a:prstGeom>
          <a:noFill/>
          <a:ln/>
        </p:spPr>
        <p:txBody>
          <a:bodyPr wrap="square" rtlCol="0" anchor="ctr"/>
          <a:lstStyle/>
          <a:p>
            <a:pPr rtl="1" algn="r" indent="0" marL="0">
              <a:buNone/>
            </a:pPr>
            <a:r>
              <a:rPr lang="ar-SA" altLang="en-US" sz="1100" dirty="0">
                <a:solidFill>
                  <a:srgbClr val="5C5470"/>
                </a:solidFill>
                <a:latin typeface="Arial" pitchFamily="34" charset="0"/>
                <a:ea typeface="Arial" pitchFamily="34" charset="-122"/>
                <a:cs typeface="Arial" pitchFamily="34" charset="-120"/>
              </a:rPr>
              <a:t>درسي — يُسمح بنسخها لمدرستك مجانًا، سياسة الذكاء الاصطناعي في مدرستك، ٣</a:t>
            </a:r>
            <a:endParaRPr lang="ar-SA" sz="1100" dirty="0"/>
          </a:p>
        </p:txBody>
      </p:sp>
      <p:sp>
        <p:nvSpPr>
          <p:cNvPr id="5" name="Text 2"/>
          <p:cNvSpPr/>
          <p:nvPr/>
        </p:nvSpPr>
        <p:spPr>
          <a:xfrm>
            <a:off x="640080" y="594360"/>
            <a:ext cx="10881360" cy="914400"/>
          </a:xfrm>
          <a:prstGeom prst="rect">
            <a:avLst/>
          </a:prstGeom>
          <a:noFill/>
          <a:ln/>
        </p:spPr>
        <p:txBody>
          <a:bodyPr wrap="square" rtlCol="0" anchor="ctr"/>
          <a:lstStyle/>
          <a:p>
            <a:pPr rtl="1" algn="r" indent="0" marL="0">
              <a:buNone/>
            </a:pPr>
            <a:r>
              <a:rPr lang="ar-SA" altLang="en-US" sz="3800" b="1" dirty="0">
                <a:solidFill>
                  <a:srgbClr val="1E1A33"/>
                </a:solidFill>
                <a:latin typeface="Arial" pitchFamily="34" charset="0"/>
                <a:ea typeface="Arial" pitchFamily="34" charset="-122"/>
                <a:cs typeface="Arial" pitchFamily="34" charset="-120"/>
              </a:rPr>
              <a:t>تذكّر</a:t>
            </a:r>
            <a:endParaRPr lang="ar-SA" sz="3800" dirty="0"/>
          </a:p>
        </p:txBody>
      </p:sp>
      <p:sp>
        <p:nvSpPr>
          <p:cNvPr id="6" name="Text 3"/>
          <p:cNvSpPr/>
          <p:nvPr/>
        </p:nvSpPr>
        <p:spPr>
          <a:xfrm>
            <a:off x="822960" y="1691640"/>
            <a:ext cx="10515600" cy="4206240"/>
          </a:xfrm>
          <a:prstGeom prst="rect">
            <a:avLst/>
          </a:prstGeom>
          <a:noFill/>
          <a:ln/>
        </p:spPr>
        <p:txBody>
          <a:bodyPr wrap="square" rtlCol="0" anchor="t"/>
          <a:lstStyle/>
          <a:p>
            <a:pPr rtl="1" algn="r" marL="342900" indent="-342900">
              <a:spcAft>
                <a:spcPts val="1300"/>
              </a:spcAft>
              <a:buSzPct val="100000"/>
              <a:buChar char="●"/>
            </a:pPr>
            <a:r>
              <a:rPr lang="ar-SA" altLang="en-US" sz="2600" dirty="0">
                <a:solidFill>
                  <a:srgbClr val="1E1A33"/>
                </a:solidFill>
                <a:latin typeface="Arial" pitchFamily="34" charset="0"/>
                <a:ea typeface="Arial" pitchFamily="34" charset="-122"/>
                <a:cs typeface="Arial" pitchFamily="34" charset="-120"/>
              </a:rPr>
              <a:t>القواعد الجيدة تذكر السبب لا اسم التطبيق فقط: التطبيقات تتغيّر، والأسباب تدوم.</a:t>
            </a:r>
            <a:endParaRPr lang="ar-SA" sz="2600" dirty="0"/>
          </a:p>
          <a:p>
            <a:pPr rtl="1" algn="r" marL="342900" indent="-342900">
              <a:spcAft>
                <a:spcPts val="1300"/>
              </a:spcAft>
              <a:buSzPct val="100000"/>
              <a:buChar char="●"/>
            </a:pPr>
            <a:r>
              <a:rPr lang="ar-SA" altLang="en-US" sz="2600" dirty="0">
                <a:solidFill>
                  <a:srgbClr val="1E1A33"/>
                </a:solidFill>
                <a:latin typeface="Arial" pitchFamily="34" charset="0"/>
                <a:ea typeface="Arial" pitchFamily="34" charset="-122"/>
                <a:cs typeface="Arial" pitchFamily="34" charset="-120"/>
              </a:rPr>
              <a:t>تنجح القواعد أكثر حين يشارك في كتابتها مَن سيلتزمون بها.</a:t>
            </a:r>
            <a:endParaRPr lang="ar-SA" sz="2600" dirty="0"/>
          </a:p>
          <a:p>
            <a:pPr rtl="1" algn="r" marL="342900" indent="-342900">
              <a:spcAft>
                <a:spcPts val="1300"/>
              </a:spcAft>
              <a:buSzPct val="100000"/>
              <a:buChar char="●"/>
            </a:pPr>
            <a:r>
              <a:rPr lang="ar-SA" altLang="en-US" sz="2600" dirty="0">
                <a:solidFill>
                  <a:srgbClr val="1E1A33"/>
                </a:solidFill>
                <a:latin typeface="Arial" pitchFamily="34" charset="0"/>
                <a:ea typeface="Arial" pitchFamily="34" charset="-122"/>
                <a:cs typeface="Arial" pitchFamily="34" charset="-120"/>
              </a:rPr>
              <a:t>نراجع قواعدنا حين تتغيّر الأمور.</a:t>
            </a:r>
            <a:endParaRPr lang="ar-SA" sz="2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FFC53D"/>
          </a:solidFill>
          <a:ln w="12700">
            <a:solidFill>
              <a:srgbClr val="FFC53D"/>
            </a:solidFill>
            <a:prstDash val="solid"/>
          </a:ln>
        </p:spPr>
      </p:sp>
      <p:pic>
        <p:nvPicPr>
          <p:cNvPr id="3" name="Image 0" descr="H:\htdocs\darsi\apps\web\public\app-icons\app-icon-192.png">    </p:cNvPr>
          <p:cNvPicPr>
            <a:picLocks noChangeAspect="1"/>
          </p:cNvPicPr>
          <p:nvPr/>
        </p:nvPicPr>
        <p:blipFill>
          <a:blip r:embed="rId1"/>
          <a:stretch>
            <a:fillRect/>
          </a:stretch>
        </p:blipFill>
        <p:spPr>
          <a:xfrm>
            <a:off x="411480" y="6172200"/>
            <a:ext cx="457200" cy="457200"/>
          </a:xfrm>
          <a:prstGeom prst="rect">
            <a:avLst/>
          </a:prstGeom>
        </p:spPr>
      </p:pic>
      <p:sp>
        <p:nvSpPr>
          <p:cNvPr id="4" name="Text 1"/>
          <p:cNvSpPr/>
          <p:nvPr/>
        </p:nvSpPr>
        <p:spPr>
          <a:xfrm>
            <a:off x="1005840" y="6236208"/>
            <a:ext cx="10698480" cy="365760"/>
          </a:xfrm>
          <a:prstGeom prst="rect">
            <a:avLst/>
          </a:prstGeom>
          <a:noFill/>
          <a:ln/>
        </p:spPr>
        <p:txBody>
          <a:bodyPr wrap="square" rtlCol="0" anchor="ctr"/>
          <a:lstStyle/>
          <a:p>
            <a:pPr rtl="1" algn="r" indent="0" marL="0">
              <a:buNone/>
            </a:pPr>
            <a:r>
              <a:rPr lang="ar-SA" altLang="en-US" sz="1100" dirty="0">
                <a:solidFill>
                  <a:srgbClr val="5C5470"/>
                </a:solidFill>
                <a:latin typeface="Arial" pitchFamily="34" charset="0"/>
                <a:ea typeface="Arial" pitchFamily="34" charset="-122"/>
                <a:cs typeface="Arial" pitchFamily="34" charset="-120"/>
              </a:rPr>
              <a:t>درسي — يُسمح بنسخها لمدرستك مجانًا، سياسة الذكاء الاصطناعي في مدرستك، ٤</a:t>
            </a:r>
            <a:endParaRPr lang="ar-SA" sz="1100" dirty="0"/>
          </a:p>
        </p:txBody>
      </p:sp>
      <p:sp>
        <p:nvSpPr>
          <p:cNvPr id="5" name="Text 2"/>
          <p:cNvSpPr/>
          <p:nvPr/>
        </p:nvSpPr>
        <p:spPr>
          <a:xfrm>
            <a:off x="640080" y="594360"/>
            <a:ext cx="10881360" cy="914400"/>
          </a:xfrm>
          <a:prstGeom prst="rect">
            <a:avLst/>
          </a:prstGeom>
          <a:noFill/>
          <a:ln/>
        </p:spPr>
        <p:txBody>
          <a:bodyPr wrap="square" rtlCol="0" anchor="ctr"/>
          <a:lstStyle/>
          <a:p>
            <a:pPr rtl="1" algn="r" indent="0" marL="0">
              <a:buNone/>
            </a:pPr>
            <a:r>
              <a:rPr lang="ar-SA" altLang="en-US" sz="3800" b="1" dirty="0">
                <a:solidFill>
                  <a:srgbClr val="1E1A33"/>
                </a:solidFill>
                <a:latin typeface="Arial" pitchFamily="34" charset="0"/>
                <a:ea typeface="Arial" pitchFamily="34" charset="-122"/>
                <a:cs typeface="Arial" pitchFamily="34" charset="-120"/>
              </a:rPr>
              <a:t>ميثاق صفّنا للذكاء الاصطناعي</a:t>
            </a:r>
            <a:endParaRPr lang="ar-SA" sz="3800" dirty="0"/>
          </a:p>
        </p:txBody>
      </p:sp>
      <p:sp>
        <p:nvSpPr>
          <p:cNvPr id="6" name="Text 3"/>
          <p:cNvSpPr/>
          <p:nvPr/>
        </p:nvSpPr>
        <p:spPr>
          <a:xfrm>
            <a:off x="4160520" y="1691640"/>
            <a:ext cx="7223760" cy="4206240"/>
          </a:xfrm>
          <a:prstGeom prst="rect">
            <a:avLst/>
          </a:prstGeom>
          <a:noFill/>
          <a:ln/>
        </p:spPr>
        <p:txBody>
          <a:bodyPr wrap="square" rtlCol="0" anchor="t"/>
          <a:lstStyle/>
          <a:p>
            <a:pPr rtl="1" algn="r" marL="342900" indent="-342900">
              <a:spcAft>
                <a:spcPts val="1000"/>
              </a:spcAft>
              <a:buSzPct val="100000"/>
              <a:buFont typeface="+mj-lt"/>
              <a:buAutoNum type="arabicPeriod" startAt="1"/>
            </a:pPr>
            <a:r>
              <a:rPr lang="ar-SA" altLang="en-US" sz="1900" dirty="0">
                <a:solidFill>
                  <a:srgbClr val="1E1A33"/>
                </a:solidFill>
                <a:latin typeface="Arial" pitchFamily="34" charset="0"/>
                <a:ea typeface="Arial" pitchFamily="34" charset="-122"/>
                <a:cs typeface="Arial" pitchFamily="34" charset="-120"/>
              </a:rPr>
              <a:t>التمهيد (٥ دقائق): اسأل متى قد يساعدنا الذكاء الاصطناعي على التعلّم، ومتى قد يمنعنا منه.</a:t>
            </a:r>
            <a:endParaRPr lang="ar-SA" sz="1900" dirty="0"/>
          </a:p>
          <a:p>
            <a:pPr rtl="1" algn="r" marL="342900" indent="-342900">
              <a:spcAft>
                <a:spcPts val="1000"/>
              </a:spcAft>
              <a:buSzPct val="100000"/>
              <a:buFont typeface="+mj-lt"/>
              <a:buAutoNum type="arabicPeriod" startAt="1"/>
            </a:pPr>
            <a:r>
              <a:rPr lang="ar-SA" altLang="en-US" sz="1900" dirty="0">
                <a:solidFill>
                  <a:srgbClr val="1E1A33"/>
                </a:solidFill>
                <a:latin typeface="Arial" pitchFamily="34" charset="0"/>
                <a:ea typeface="Arial" pitchFamily="34" charset="-122"/>
                <a:cs typeface="Arial" pitchFamily="34" charset="-120"/>
              </a:rPr>
              <a:t>المجموعات (١٢ دقيقة): تكتب كل مجموعة ثلاث قواعد على شرائط ورق، مع سبب لكل قاعدة.</a:t>
            </a:r>
            <a:endParaRPr lang="ar-SA" sz="1900" dirty="0"/>
          </a:p>
          <a:p>
            <a:pPr rtl="1" algn="r" marL="342900" indent="-342900">
              <a:spcAft>
                <a:spcPts val="1000"/>
              </a:spcAft>
              <a:buSzPct val="100000"/>
              <a:buFont typeface="+mj-lt"/>
              <a:buAutoNum type="arabicPeriod" startAt="1"/>
            </a:pPr>
            <a:r>
              <a:rPr lang="ar-SA" altLang="en-US" sz="1900" dirty="0">
                <a:solidFill>
                  <a:srgbClr val="1E1A33"/>
                </a:solidFill>
                <a:latin typeface="Arial" pitchFamily="34" charset="0"/>
                <a:ea typeface="Arial" pitchFamily="34" charset="-122"/>
                <a:cs typeface="Arial" pitchFamily="34" charset="-120"/>
              </a:rPr>
              <a:t>الجمع (٨ دقائق): تقرأ المجموعات قواعدها، وتُجمع المتشابهة معًا على السبّورة.</a:t>
            </a:r>
            <a:endParaRPr lang="ar-SA" sz="1900" dirty="0"/>
          </a:p>
          <a:p>
            <a:pPr rtl="1" algn="r" marL="342900" indent="-342900">
              <a:spcAft>
                <a:spcPts val="1000"/>
              </a:spcAft>
              <a:buSzPct val="100000"/>
              <a:buFont typeface="+mj-lt"/>
              <a:buAutoNum type="arabicPeriod" startAt="1"/>
            </a:pPr>
            <a:r>
              <a:rPr lang="ar-SA" altLang="en-US" sz="1900" dirty="0">
                <a:solidFill>
                  <a:srgbClr val="1E1A33"/>
                </a:solidFill>
                <a:latin typeface="Arial" pitchFamily="34" charset="0"/>
                <a:ea typeface="Arial" pitchFamily="34" charset="-122"/>
                <a:cs typeface="Arial" pitchFamily="34" charset="-120"/>
              </a:rPr>
              <a:t>التصويت (١٠ دقائق): اتفقوا على خمس قواعد وصوّتوا على أوضح صياغة لكل منها.</a:t>
            </a:r>
            <a:endParaRPr lang="ar-SA" sz="1900" dirty="0"/>
          </a:p>
          <a:p>
            <a:pPr rtl="1" algn="r" marL="342900" indent="-342900">
              <a:spcAft>
                <a:spcPts val="1000"/>
              </a:spcAft>
              <a:buSzPct val="100000"/>
              <a:buFont typeface="+mj-lt"/>
              <a:buAutoNum type="arabicPeriod" startAt="1"/>
            </a:pPr>
            <a:r>
              <a:rPr lang="ar-SA" altLang="en-US" sz="1900" dirty="0">
                <a:solidFill>
                  <a:srgbClr val="1E1A33"/>
                </a:solidFill>
                <a:latin typeface="Arial" pitchFamily="34" charset="0"/>
                <a:ea typeface="Arial" pitchFamily="34" charset="-122"/>
                <a:cs typeface="Arial" pitchFamily="34" charset="-120"/>
              </a:rPr>
              <a:t>الختام (٥ دقائق): انسخ الميثاق على ورقة كبيرة، ويوقّع عليه الجميع بالأحرف الأولى.</a:t>
            </a:r>
            <a:endParaRPr lang="ar-SA" sz="1900" dirty="0"/>
          </a:p>
        </p:txBody>
      </p:sp>
      <p:sp>
        <p:nvSpPr>
          <p:cNvPr id="7" name="Shape 4"/>
          <p:cNvSpPr/>
          <p:nvPr/>
        </p:nvSpPr>
        <p:spPr>
          <a:xfrm>
            <a:off x="640080" y="1783080"/>
            <a:ext cx="3246120" cy="4023360"/>
          </a:xfrm>
          <a:prstGeom prst="roundRect">
            <a:avLst>
              <a:gd name="adj" fmla="val 5634"/>
            </a:avLst>
          </a:prstGeom>
          <a:solidFill>
            <a:srgbClr val="FFE2D2"/>
          </a:solidFill>
          <a:ln w="25400">
            <a:solidFill>
              <a:srgbClr val="FF6A2B"/>
            </a:solidFill>
            <a:prstDash val="solid"/>
          </a:ln>
        </p:spPr>
      </p:sp>
      <p:sp>
        <p:nvSpPr>
          <p:cNvPr id="8" name="Text 5"/>
          <p:cNvSpPr/>
          <p:nvPr/>
        </p:nvSpPr>
        <p:spPr>
          <a:xfrm>
            <a:off x="777240" y="1874520"/>
            <a:ext cx="2971800" cy="3840480"/>
          </a:xfrm>
          <a:prstGeom prst="rect">
            <a:avLst/>
          </a:prstGeom>
          <a:noFill/>
          <a:ln/>
        </p:spPr>
        <p:txBody>
          <a:bodyPr wrap="square" rtlCol="0" anchor="ctr"/>
          <a:lstStyle/>
          <a:p>
            <a:pPr rtl="1" algn="ctr" indent="0" marL="0">
              <a:buNone/>
            </a:pPr>
            <a:r>
              <a:rPr lang="ar-SA" altLang="en-US" sz="1300" b="1" dirty="0">
                <a:solidFill>
                  <a:srgbClr val="1E1A33"/>
                </a:solidFill>
                <a:latin typeface="Arial" pitchFamily="34" charset="0"/>
                <a:ea typeface="Arial" pitchFamily="34" charset="-122"/>
                <a:cs typeface="Arial" pitchFamily="34" charset="-120"/>
              </a:rPr>
              <a:t>اجعل الميثاق خمس قواعد بكلمات الطلاب أنفسهم، لكل منها سبب. وتأكّد أن قاعدة واحدة تتناول الخصوصية (لا أسماء ولا صور ولا درجات في أدوات الذكاء الاصطناعي)، وأن أخرى تتناول ذكر طريقة استخدامه. وضع عليه موعدًا للمراجعة.</a:t>
            </a:r>
            <a:endParaRPr lang="ar-SA"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FFC53D"/>
          </a:solidFill>
          <a:ln w="12700">
            <a:solidFill>
              <a:srgbClr val="FFC53D"/>
            </a:solidFill>
            <a:prstDash val="solid"/>
          </a:ln>
        </p:spPr>
      </p:sp>
      <p:pic>
        <p:nvPicPr>
          <p:cNvPr id="3" name="Image 0" descr="H:\htdocs\darsi\apps\web\public\app-icons\app-icon-192.png">    </p:cNvPr>
          <p:cNvPicPr>
            <a:picLocks noChangeAspect="1"/>
          </p:cNvPicPr>
          <p:nvPr/>
        </p:nvPicPr>
        <p:blipFill>
          <a:blip r:embed="rId1"/>
          <a:stretch>
            <a:fillRect/>
          </a:stretch>
        </p:blipFill>
        <p:spPr>
          <a:xfrm>
            <a:off x="411480" y="6172200"/>
            <a:ext cx="457200" cy="457200"/>
          </a:xfrm>
          <a:prstGeom prst="rect">
            <a:avLst/>
          </a:prstGeom>
        </p:spPr>
      </p:pic>
      <p:sp>
        <p:nvSpPr>
          <p:cNvPr id="4" name="Text 1"/>
          <p:cNvSpPr/>
          <p:nvPr/>
        </p:nvSpPr>
        <p:spPr>
          <a:xfrm>
            <a:off x="1005840" y="6236208"/>
            <a:ext cx="10698480" cy="365760"/>
          </a:xfrm>
          <a:prstGeom prst="rect">
            <a:avLst/>
          </a:prstGeom>
          <a:noFill/>
          <a:ln/>
        </p:spPr>
        <p:txBody>
          <a:bodyPr wrap="square" rtlCol="0" anchor="ctr"/>
          <a:lstStyle/>
          <a:p>
            <a:pPr rtl="1" algn="r" indent="0" marL="0">
              <a:buNone/>
            </a:pPr>
            <a:r>
              <a:rPr lang="ar-SA" altLang="en-US" sz="1100" dirty="0">
                <a:solidFill>
                  <a:srgbClr val="5C5470"/>
                </a:solidFill>
                <a:latin typeface="Arial" pitchFamily="34" charset="0"/>
                <a:ea typeface="Arial" pitchFamily="34" charset="-122"/>
                <a:cs typeface="Arial" pitchFamily="34" charset="-120"/>
              </a:rPr>
              <a:t>درسي — يُسمح بنسخها لمدرستك مجانًا، سياسة الذكاء الاصطناعي في مدرستك، ٥</a:t>
            </a:r>
            <a:endParaRPr lang="ar-SA" sz="1100" dirty="0"/>
          </a:p>
        </p:txBody>
      </p:sp>
      <p:sp>
        <p:nvSpPr>
          <p:cNvPr id="5" name="Text 2"/>
          <p:cNvSpPr/>
          <p:nvPr/>
        </p:nvSpPr>
        <p:spPr>
          <a:xfrm>
            <a:off x="640080" y="594360"/>
            <a:ext cx="10881360" cy="914400"/>
          </a:xfrm>
          <a:prstGeom prst="rect">
            <a:avLst/>
          </a:prstGeom>
          <a:noFill/>
          <a:ln/>
        </p:spPr>
        <p:txBody>
          <a:bodyPr wrap="square" rtlCol="0" anchor="ctr"/>
          <a:lstStyle/>
          <a:p>
            <a:pPr rtl="1" algn="r" indent="0" marL="0">
              <a:buNone/>
            </a:pPr>
            <a:r>
              <a:rPr lang="ar-SA" altLang="en-US" sz="3800" b="1" dirty="0">
                <a:solidFill>
                  <a:srgbClr val="1E1A33"/>
                </a:solidFill>
                <a:latin typeface="Arial" pitchFamily="34" charset="0"/>
                <a:ea typeface="Arial" pitchFamily="34" charset="-122"/>
                <a:cs typeface="Arial" pitchFamily="34" charset="-120"/>
              </a:rPr>
              <a:t>لنتناقش</a:t>
            </a:r>
            <a:endParaRPr lang="ar-SA" sz="3800" dirty="0"/>
          </a:p>
        </p:txBody>
      </p:sp>
      <p:sp>
        <p:nvSpPr>
          <p:cNvPr id="6" name="Text 3"/>
          <p:cNvSpPr/>
          <p:nvPr/>
        </p:nvSpPr>
        <p:spPr>
          <a:xfrm>
            <a:off x="822960" y="1691640"/>
            <a:ext cx="10515600" cy="4206240"/>
          </a:xfrm>
          <a:prstGeom prst="rect">
            <a:avLst/>
          </a:prstGeom>
          <a:noFill/>
          <a:ln/>
        </p:spPr>
        <p:txBody>
          <a:bodyPr wrap="square" rtlCol="0" anchor="t"/>
          <a:lstStyle/>
          <a:p>
            <a:pPr rtl="1" algn="r" marL="342900" indent="-342900">
              <a:spcAft>
                <a:spcPts val="1300"/>
              </a:spcAft>
              <a:buSzPct val="100000"/>
              <a:buFont typeface="+mj-lt"/>
              <a:buAutoNum type="arabicPeriod" startAt="1"/>
            </a:pPr>
            <a:r>
              <a:rPr lang="ar-SA" altLang="en-US" sz="2600" dirty="0">
                <a:solidFill>
                  <a:srgbClr val="1E1A33"/>
                </a:solidFill>
                <a:latin typeface="Arial" pitchFamily="34" charset="0"/>
                <a:ea typeface="Arial" pitchFamily="34" charset="-122"/>
                <a:cs typeface="Arial" pitchFamily="34" charset="-120"/>
              </a:rPr>
              <a:t>أيّ قواعدنا سيكون الالتزام بها أصعب، ولماذا؟</a:t>
            </a:r>
            <a:endParaRPr lang="ar-SA" sz="2600" dirty="0"/>
          </a:p>
          <a:p>
            <a:pPr rtl="1" algn="r" marL="342900" indent="-342900">
              <a:spcAft>
                <a:spcPts val="1300"/>
              </a:spcAft>
              <a:buSzPct val="100000"/>
              <a:buFont typeface="+mj-lt"/>
              <a:buAutoNum type="arabicPeriod" startAt="1"/>
            </a:pPr>
            <a:r>
              <a:rPr lang="ar-SA" altLang="en-US" sz="2600" dirty="0">
                <a:solidFill>
                  <a:srgbClr val="1E1A33"/>
                </a:solidFill>
                <a:latin typeface="Arial" pitchFamily="34" charset="0"/>
                <a:ea typeface="Arial" pitchFamily="34" charset="-122"/>
                <a:cs typeface="Arial" pitchFamily="34" charset="-120"/>
              </a:rPr>
              <a:t>ماذا ينبغي أن يحدث حين يخالف أحدٌ قاعدة، ومَن يقرّر؟</a:t>
            </a:r>
            <a:endParaRPr lang="ar-SA" sz="2600" dirty="0"/>
          </a:p>
          <a:p>
            <a:pPr rtl="1" algn="r" marL="342900" indent="-342900">
              <a:spcAft>
                <a:spcPts val="1300"/>
              </a:spcAft>
              <a:buSzPct val="100000"/>
              <a:buFont typeface="+mj-lt"/>
              <a:buAutoNum type="arabicPeriod" startAt="1"/>
            </a:pPr>
            <a:r>
              <a:rPr lang="ar-SA" altLang="en-US" sz="2600" dirty="0">
                <a:solidFill>
                  <a:srgbClr val="1E1A33"/>
                </a:solidFill>
                <a:latin typeface="Arial" pitchFamily="34" charset="0"/>
                <a:ea typeface="Arial" pitchFamily="34" charset="-122"/>
                <a:cs typeface="Arial" pitchFamily="34" charset="-120"/>
              </a:rPr>
              <a:t>ما الذي قد يدفعنا إلى تغيير قاعدة في الفصل القادم؟</a:t>
            </a:r>
            <a:endParaRPr lang="ar-SA" sz="2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FFC53D"/>
          </a:solidFill>
          <a:ln w="12700">
            <a:solidFill>
              <a:srgbClr val="FFC53D"/>
            </a:solidFill>
            <a:prstDash val="solid"/>
          </a:ln>
        </p:spPr>
      </p:sp>
      <p:pic>
        <p:nvPicPr>
          <p:cNvPr id="3" name="Image 0" descr="H:\htdocs\darsi\apps\web\public\app-icons\app-icon-192.png">    </p:cNvPr>
          <p:cNvPicPr>
            <a:picLocks noChangeAspect="1"/>
          </p:cNvPicPr>
          <p:nvPr/>
        </p:nvPicPr>
        <p:blipFill>
          <a:blip r:embed="rId1"/>
          <a:stretch>
            <a:fillRect/>
          </a:stretch>
        </p:blipFill>
        <p:spPr>
          <a:xfrm>
            <a:off x="411480" y="6172200"/>
            <a:ext cx="457200" cy="457200"/>
          </a:xfrm>
          <a:prstGeom prst="rect">
            <a:avLst/>
          </a:prstGeom>
        </p:spPr>
      </p:pic>
      <p:sp>
        <p:nvSpPr>
          <p:cNvPr id="4" name="Text 1"/>
          <p:cNvSpPr/>
          <p:nvPr/>
        </p:nvSpPr>
        <p:spPr>
          <a:xfrm>
            <a:off x="1005840" y="6236208"/>
            <a:ext cx="10698480" cy="365760"/>
          </a:xfrm>
          <a:prstGeom prst="rect">
            <a:avLst/>
          </a:prstGeom>
          <a:noFill/>
          <a:ln/>
        </p:spPr>
        <p:txBody>
          <a:bodyPr wrap="square" rtlCol="0" anchor="ctr"/>
          <a:lstStyle/>
          <a:p>
            <a:pPr rtl="1" algn="r" indent="0" marL="0">
              <a:buNone/>
            </a:pPr>
            <a:r>
              <a:rPr lang="ar-SA" altLang="en-US" sz="1100" dirty="0">
                <a:solidFill>
                  <a:srgbClr val="5C5470"/>
                </a:solidFill>
                <a:latin typeface="Arial" pitchFamily="34" charset="0"/>
                <a:ea typeface="Arial" pitchFamily="34" charset="-122"/>
                <a:cs typeface="Arial" pitchFamily="34" charset="-120"/>
              </a:rPr>
              <a:t>درسي — يُسمح بنسخها لمدرستك مجانًا، سياسة الذكاء الاصطناعي في مدرستك، ٦</a:t>
            </a:r>
            <a:endParaRPr lang="ar-SA" sz="1100" dirty="0"/>
          </a:p>
        </p:txBody>
      </p:sp>
      <p:sp>
        <p:nvSpPr>
          <p:cNvPr id="5" name="Text 2"/>
          <p:cNvSpPr/>
          <p:nvPr/>
        </p:nvSpPr>
        <p:spPr>
          <a:xfrm>
            <a:off x="640080" y="594360"/>
            <a:ext cx="10881360" cy="914400"/>
          </a:xfrm>
          <a:prstGeom prst="rect">
            <a:avLst/>
          </a:prstGeom>
          <a:noFill/>
          <a:ln/>
        </p:spPr>
        <p:txBody>
          <a:bodyPr wrap="square" rtlCol="0" anchor="ctr"/>
          <a:lstStyle/>
          <a:p>
            <a:pPr rtl="1" algn="r" indent="0" marL="0">
              <a:buNone/>
            </a:pPr>
            <a:r>
              <a:rPr lang="ar-SA" altLang="en-US" sz="3800" b="1" dirty="0">
                <a:solidFill>
                  <a:srgbClr val="1E1A33"/>
                </a:solidFill>
                <a:latin typeface="Arial" pitchFamily="34" charset="0"/>
                <a:ea typeface="Arial" pitchFamily="34" charset="-122"/>
                <a:cs typeface="Arial" pitchFamily="34" charset="-120"/>
              </a:rPr>
              <a:t>بطاقة الخروج</a:t>
            </a:r>
            <a:endParaRPr lang="ar-SA" sz="3800" dirty="0"/>
          </a:p>
        </p:txBody>
      </p:sp>
      <p:sp>
        <p:nvSpPr>
          <p:cNvPr id="6" name="Text 3"/>
          <p:cNvSpPr/>
          <p:nvPr/>
        </p:nvSpPr>
        <p:spPr>
          <a:xfrm>
            <a:off x="822960" y="1691640"/>
            <a:ext cx="10515600" cy="4206240"/>
          </a:xfrm>
          <a:prstGeom prst="rect">
            <a:avLst/>
          </a:prstGeom>
          <a:noFill/>
          <a:ln/>
        </p:spPr>
        <p:txBody>
          <a:bodyPr wrap="square" rtlCol="0" anchor="t"/>
          <a:lstStyle/>
          <a:p>
            <a:pPr rtl="1" algn="r" marL="342900" indent="-342900">
              <a:spcAft>
                <a:spcPts val="1300"/>
              </a:spcAft>
              <a:buSzPct val="100000"/>
              <a:buChar char="●"/>
            </a:pPr>
            <a:r>
              <a:rPr lang="ar-SA" altLang="en-US" sz="2600" dirty="0">
                <a:solidFill>
                  <a:srgbClr val="1E1A33"/>
                </a:solidFill>
                <a:latin typeface="Arial" pitchFamily="34" charset="0"/>
                <a:ea typeface="Arial" pitchFamily="34" charset="-122"/>
                <a:cs typeface="Arial" pitchFamily="34" charset="-120"/>
              </a:rPr>
              <a:t>القاعدة الأهم بالنسبة إليك في ميثاقنا، ولماذا.</a:t>
            </a:r>
            <a:endParaRPr lang="ar-SA" sz="2600" dirty="0"/>
          </a:p>
        </p:txBody>
      </p:sp>
      <p:sp>
        <p:nvSpPr>
          <p:cNvPr id="7" name="Shape 4"/>
          <p:cNvSpPr/>
          <p:nvPr/>
        </p:nvSpPr>
        <p:spPr>
          <a:xfrm>
            <a:off x="822960" y="4572000"/>
            <a:ext cx="10515600" cy="36576"/>
          </a:xfrm>
          <a:prstGeom prst="rect">
            <a:avLst/>
          </a:prstGeom>
          <a:solidFill>
            <a:srgbClr val="EAD9C4"/>
          </a:solidFill>
          <a:ln w="12700">
            <a:solidFill>
              <a:srgbClr val="EAD9C4"/>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Darsi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سياسة الذكاء الاصطناعي في مدرستك</dc:title>
  <dc:subject>PptxGenJS Presentation</dc:subject>
  <dc:creator>Darsi</dc:creator>
  <cp:lastModifiedBy>Darsi</cp:lastModifiedBy>
  <cp:revision>1</cp:revision>
  <dcterms:created xsi:type="dcterms:W3CDTF">2026-10-28T12:22:00Z</dcterms:created>
  <dcterms:modified xsi:type="dcterms:W3CDTF">2026-10-28T12:22:00Z</dcterms:modified>
</cp:coreProperties>
</file>