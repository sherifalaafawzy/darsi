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احمِ بيانات طلابك، ١</a:t>
            </a:r>
            <a:endParaRPr lang="ar-SA" sz="1100" dirty="0"/>
          </a:p>
        </p:txBody>
      </p:sp>
      <p:sp>
        <p:nvSpPr>
          <p:cNvPr id="5" name="Shape 2"/>
          <p:cNvSpPr/>
          <p:nvPr/>
        </p:nvSpPr>
        <p:spPr>
          <a:xfrm>
            <a:off x="548640" y="1280160"/>
            <a:ext cx="3474720" cy="3474720"/>
          </a:xfrm>
          <a:prstGeom prst="roundRect">
            <a:avLst>
              <a:gd name="adj" fmla="val 10526"/>
            </a:avLst>
          </a:prstGeom>
          <a:solidFill>
            <a:srgbClr val="FFF0C4"/>
          </a:solidFill>
          <a:ln w="12700">
            <a:solidFill>
              <a:srgbClr val="FFF0C4"/>
            </a:solidFill>
            <a:prstDash val="solid"/>
          </a:ln>
        </p:spPr>
      </p:sp>
      <p:pic>
        <p:nvPicPr>
          <p:cNvPr id="6" name="Image 1" descr="H:\htdocs\darsi\apps\web\public\app-icons\app-icon-192.png">    </p:cNvPr>
          <p:cNvPicPr>
            <a:picLocks noChangeAspect="1"/>
          </p:cNvPicPr>
          <p:nvPr/>
        </p:nvPicPr>
        <p:blipFill>
          <a:blip r:embed="rId2"/>
          <a:stretch>
            <a:fillRect/>
          </a:stretch>
        </p:blipFill>
        <p:spPr>
          <a:xfrm>
            <a:off x="1371600" y="2103120"/>
            <a:ext cx="1828800" cy="1828800"/>
          </a:xfrm>
          <a:prstGeom prst="rect">
            <a:avLst/>
          </a:prstGeom>
        </p:spPr>
      </p:pic>
      <p:sp>
        <p:nvSpPr>
          <p:cNvPr id="7" name="Text 3"/>
          <p:cNvSpPr/>
          <p:nvPr/>
        </p:nvSpPr>
        <p:spPr>
          <a:xfrm>
            <a:off x="4389120" y="1828800"/>
            <a:ext cx="7223760" cy="1828800"/>
          </a:xfrm>
          <a:prstGeom prst="rect">
            <a:avLst/>
          </a:prstGeom>
          <a:noFill/>
          <a:ln/>
        </p:spPr>
        <p:txBody>
          <a:bodyPr wrap="square" rtlCol="0" anchor="ctr"/>
          <a:lstStyle/>
          <a:p>
            <a:pPr rtl="1" algn="r" indent="0" marL="0">
              <a:buNone/>
            </a:pPr>
            <a:r>
              <a:rPr lang="ar-SA" altLang="en-US" sz="5400" b="1" dirty="0">
                <a:solidFill>
                  <a:srgbClr val="1E1A33"/>
                </a:solidFill>
                <a:latin typeface="Arial" pitchFamily="34" charset="0"/>
                <a:ea typeface="Arial" pitchFamily="34" charset="-122"/>
                <a:cs typeface="Arial" pitchFamily="34" charset="-120"/>
              </a:rPr>
              <a:t>احمِ بيانات طلابك</a:t>
            </a:r>
            <a:endParaRPr lang="ar-SA" sz="5400" dirty="0"/>
          </a:p>
        </p:txBody>
      </p:sp>
      <p:sp>
        <p:nvSpPr>
          <p:cNvPr id="8" name="Text 4"/>
          <p:cNvSpPr/>
          <p:nvPr/>
        </p:nvSpPr>
        <p:spPr>
          <a:xfrm>
            <a:off x="4389120" y="3749040"/>
            <a:ext cx="7223760" cy="548640"/>
          </a:xfrm>
          <a:prstGeom prst="rect">
            <a:avLst/>
          </a:prstGeom>
          <a:noFill/>
          <a:ln/>
        </p:spPr>
        <p:txBody>
          <a:bodyPr wrap="square" rtlCol="0" anchor="ctr"/>
          <a:lstStyle/>
          <a:p>
            <a:pPr rtl="1" algn="r" indent="0" marL="0">
              <a:buNone/>
            </a:pPr>
            <a:r>
              <a:rPr lang="ar-SA" altLang="en-US" sz="2200" b="1" dirty="0">
                <a:solidFill>
                  <a:srgbClr val="7A5000"/>
                </a:solidFill>
                <a:latin typeface="Arial" pitchFamily="34" charset="0"/>
                <a:ea typeface="Arial" pitchFamily="34" charset="-122"/>
                <a:cs typeface="Arial" pitchFamily="34" charset="-120"/>
              </a:rPr>
              <a:t>الذكاء الاصطناعي، المستوى ٢، الدرس ٤</a:t>
            </a:r>
            <a:endParaRPr lang="ar-SA"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احمِ بيانات طلابك، ٢</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سنتعلّم اليوم</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نفرز المعلومات إلى: لا بأس بمشاركته، وفقط دون أسماء، وأبدًا.</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نجعل المعلومات أكثر أمانًا بحذف الأسماء والدلائل.</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نشرح لماذا قد يخرج ما يدخل أداة الذكاء الاصطناعي مرة أخرى.</a:t>
            </a:r>
            <a:endParaRPr lang="ar-SA"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احمِ بيانات طلابك، ٣</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تذكّر</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ما نكتبه تخزّنه الشركة، وقد يُستخدم لتدريب نماذج لاحقة.</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الأسماء مع الدرجات، والصحة، وشؤون الأسرة، والصور، والأصوات، وأرقام الهوية لا تدخل أبدًا.</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احذف الأسماء أولًا، وتذكّر: كثير من أدوات الذكاء الاصطناعي مخصّص لمن هم في سن ١٣ عامًا فأكثر.</a:t>
            </a:r>
            <a:endParaRPr lang="ar-SA"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احمِ بيانات طلابك، ٤</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إشارة المرور</a:t>
            </a:r>
            <a:endParaRPr lang="ar-SA" sz="3800" dirty="0"/>
          </a:p>
        </p:txBody>
      </p:sp>
      <p:sp>
        <p:nvSpPr>
          <p:cNvPr id="6" name="Text 3"/>
          <p:cNvSpPr/>
          <p:nvPr/>
        </p:nvSpPr>
        <p:spPr>
          <a:xfrm>
            <a:off x="4160520" y="1691640"/>
            <a:ext cx="7223760" cy="4206240"/>
          </a:xfrm>
          <a:prstGeom prst="rect">
            <a:avLst/>
          </a:prstGeom>
          <a:noFill/>
          <a:ln/>
        </p:spPr>
        <p:txBody>
          <a:bodyPr wrap="square" rtlCol="0" anchor="t"/>
          <a:lstStyle/>
          <a:p>
            <a:pPr rtl="1" algn="r" marL="342900" indent="-342900">
              <a:spcAft>
                <a:spcPts val="1100"/>
              </a:spcAft>
              <a:buSzPct val="100000"/>
              <a:buFont typeface="+mj-lt"/>
              <a:buAutoNum type="arabicPeriod" startAt="1"/>
            </a:pPr>
            <a:r>
              <a:rPr lang="ar-SA" altLang="en-US" sz="2100" dirty="0">
                <a:solidFill>
                  <a:srgbClr val="1E1A33"/>
                </a:solidFill>
                <a:latin typeface="Arial" pitchFamily="34" charset="0"/>
                <a:ea typeface="Arial" pitchFamily="34" charset="-122"/>
                <a:cs typeface="Arial" pitchFamily="34" charset="-120"/>
              </a:rPr>
              <a:t>التمهيد (٥ دقائق): هل تصرخ بهذا في السوق؟ ثلاثة أمثلة سريعة.</a:t>
            </a:r>
            <a:endParaRPr lang="ar-SA" sz="2100" dirty="0"/>
          </a:p>
          <a:p>
            <a:pPr rtl="1" algn="r" marL="342900" indent="-342900">
              <a:spcAft>
                <a:spcPts val="1100"/>
              </a:spcAft>
              <a:buSzPct val="100000"/>
              <a:buFont typeface="+mj-lt"/>
              <a:buAutoNum type="arabicPeriod" startAt="1"/>
            </a:pPr>
            <a:r>
              <a:rPr lang="ar-SA" altLang="en-US" sz="2100" dirty="0">
                <a:solidFill>
                  <a:srgbClr val="1E1A33"/>
                </a:solidFill>
                <a:latin typeface="Arial" pitchFamily="34" charset="0"/>
                <a:ea typeface="Arial" pitchFamily="34" charset="-122"/>
                <a:cs typeface="Arial" pitchFamily="34" charset="-120"/>
              </a:rPr>
              <a:t>الشرح (٨ دقائق): ماذا يحدث لما نكتبه، ولماذا قد يخرج مرة أخرى.</a:t>
            </a:r>
            <a:endParaRPr lang="ar-SA" sz="2100" dirty="0"/>
          </a:p>
          <a:p>
            <a:pPr rtl="1" algn="r" marL="342900" indent="-342900">
              <a:spcAft>
                <a:spcPts val="1100"/>
              </a:spcAft>
              <a:buSzPct val="100000"/>
              <a:buFont typeface="+mj-lt"/>
              <a:buAutoNum type="arabicPeriod" startAt="1"/>
            </a:pPr>
            <a:r>
              <a:rPr lang="ar-SA" altLang="en-US" sz="2100" dirty="0">
                <a:solidFill>
                  <a:srgbClr val="1E1A33"/>
                </a:solidFill>
                <a:latin typeface="Arial" pitchFamily="34" charset="0"/>
                <a:ea typeface="Arial" pitchFamily="34" charset="-122"/>
                <a:cs typeface="Arial" pitchFamily="34" charset="-120"/>
              </a:rPr>
              <a:t>إشارة المرور (١٥ دقيقة): تفرز المجموعات البطاقات إلى أخضر وأصفر وأحمر.</a:t>
            </a:r>
            <a:endParaRPr lang="ar-SA" sz="2100" dirty="0"/>
          </a:p>
          <a:p>
            <a:pPr rtl="1" algn="r" marL="342900" indent="-342900">
              <a:spcAft>
                <a:spcPts val="1100"/>
              </a:spcAft>
              <a:buSzPct val="100000"/>
              <a:buFont typeface="+mj-lt"/>
              <a:buAutoNum type="arabicPeriod" startAt="1"/>
            </a:pPr>
            <a:r>
              <a:rPr lang="ar-SA" altLang="en-US" sz="2100" dirty="0">
                <a:solidFill>
                  <a:srgbClr val="1E1A33"/>
                </a:solidFill>
                <a:latin typeface="Arial" pitchFamily="34" charset="0"/>
                <a:ea typeface="Arial" pitchFamily="34" charset="-122"/>
                <a:cs typeface="Arial" pitchFamily="34" charset="-120"/>
              </a:rPr>
              <a:t>اجعلها أكثر أمانًا (٧ دقائق): تحذف المجموعات الأسماء والدلائل من البطاقات الحمراء.</a:t>
            </a:r>
            <a:endParaRPr lang="ar-SA" sz="2100" dirty="0"/>
          </a:p>
          <a:p>
            <a:pPr rtl="1" algn="r" marL="342900" indent="-342900">
              <a:spcAft>
                <a:spcPts val="1100"/>
              </a:spcAft>
              <a:buSzPct val="100000"/>
              <a:buFont typeface="+mj-lt"/>
              <a:buAutoNum type="arabicPeriod" startAt="1"/>
            </a:pPr>
            <a:r>
              <a:rPr lang="ar-SA" altLang="en-US" sz="2100" dirty="0">
                <a:solidFill>
                  <a:srgbClr val="1E1A33"/>
                </a:solidFill>
                <a:latin typeface="Arial" pitchFamily="34" charset="0"/>
                <a:ea typeface="Arial" pitchFamily="34" charset="-122"/>
                <a:cs typeface="Arial" pitchFamily="34" charset="-120"/>
              </a:rPr>
              <a:t>الختام (٥ دقائق): ناقشوا البطاقات الصعبة، ثم بطاقة الخروج.</a:t>
            </a:r>
            <a:endParaRPr lang="ar-SA" sz="2100" dirty="0"/>
          </a:p>
        </p:txBody>
      </p:sp>
      <p:sp>
        <p:nvSpPr>
          <p:cNvPr id="7" name="Shape 4"/>
          <p:cNvSpPr/>
          <p:nvPr/>
        </p:nvSpPr>
        <p:spPr>
          <a:xfrm>
            <a:off x="640080" y="1783080"/>
            <a:ext cx="3246120" cy="4023360"/>
          </a:xfrm>
          <a:prstGeom prst="roundRect">
            <a:avLst>
              <a:gd name="adj" fmla="val 5634"/>
            </a:avLst>
          </a:prstGeom>
          <a:solidFill>
            <a:srgbClr val="FFE2D2"/>
          </a:solidFill>
          <a:ln w="25400">
            <a:solidFill>
              <a:srgbClr val="FF6A2B"/>
            </a:solidFill>
            <a:prstDash val="solid"/>
          </a:ln>
        </p:spPr>
      </p:sp>
      <p:sp>
        <p:nvSpPr>
          <p:cNvPr id="8" name="Text 5"/>
          <p:cNvSpPr/>
          <p:nvPr/>
        </p:nvSpPr>
        <p:spPr>
          <a:xfrm>
            <a:off x="777240" y="1874520"/>
            <a:ext cx="2971800" cy="3840480"/>
          </a:xfrm>
          <a:prstGeom prst="rect">
            <a:avLst/>
          </a:prstGeom>
          <a:noFill/>
          <a:ln/>
        </p:spPr>
        <p:txBody>
          <a:bodyPr wrap="square" rtlCol="0" anchor="ctr"/>
          <a:lstStyle/>
          <a:p>
            <a:pPr rtl="1" algn="ctr" indent="0" marL="0">
              <a:buNone/>
            </a:pPr>
            <a:r>
              <a:rPr lang="ar-SA" altLang="en-US" sz="1200" b="1" dirty="0">
                <a:solidFill>
                  <a:srgbClr val="1E1A33"/>
                </a:solidFill>
                <a:latin typeface="Arial" pitchFamily="34" charset="0"/>
                <a:ea typeface="Arial" pitchFamily="34" charset="-122"/>
                <a:cs typeface="Arial" pitchFamily="34" charset="-120"/>
              </a:rPr>
              <a:t>جهّز مجموعة من عشر بطاقات لكل فريق: موضوع درس، وسؤال عن الكسور، والجدول المدرسي، وقصة بأسماء مختلَقة، وقصيدة كتبها طالب، ودرجة اختبار مع اسم صاحبها، وصورة للصف، وعنوان بيت طالب، وملاحظة عن مرض، ورقم هاتف وليّ أمر. وارسم على السبّورة دوائر خضراء وصفراء وحمراء. لا وقت لتجهيز المجموعات؟ اكتب البنود العشرة على السبّورة مرقّمة، وتكتب كل مجموعة على ورقة صغيرة أمام كل رقم: أخضر أو أصفر أو أحمر.</a:t>
            </a:r>
            <a:endParaRPr lang="ar-SA"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احمِ بيانات طلابك، ٥</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لنتناقش</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أيّ بطاقة كانت الأصعب في الفرز، ولماذا؟</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كيف نحوّل بطاقة حمراء إلى صفراء؟</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لماذا قد يخرج ما نكتبه في أداة ذكاء اصطناعي مرة أخرى؟</a:t>
            </a:r>
            <a:endParaRPr lang="ar-SA"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احمِ بيانات طلابك، ٦</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بطاقة الخروج</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اكتب معلومة يجب ألّا تدخل أداة ذكاء اصطناعي أبدًا، ولماذا.</a:t>
            </a:r>
            <a:endParaRPr lang="ar-SA" sz="2600" dirty="0"/>
          </a:p>
        </p:txBody>
      </p:sp>
      <p:sp>
        <p:nvSpPr>
          <p:cNvPr id="7" name="Shape 4"/>
          <p:cNvSpPr/>
          <p:nvPr/>
        </p:nvSpPr>
        <p:spPr>
          <a:xfrm>
            <a:off x="822960" y="4572000"/>
            <a:ext cx="10515600" cy="36576"/>
          </a:xfrm>
          <a:prstGeom prst="rect">
            <a:avLst/>
          </a:prstGeom>
          <a:solidFill>
            <a:srgbClr val="EAD9C4"/>
          </a:solidFill>
          <a:ln w="12700">
            <a:solidFill>
              <a:srgbClr val="EAD9C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Darsi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احمِ بيانات طلابك</dc:title>
  <dc:subject>PptxGenJS Presentation</dc:subject>
  <dc:creator>Darsi</dc:creator>
  <cp:lastModifiedBy>Darsi</cp:lastModifiedBy>
  <cp:revision>1</cp:revision>
  <dcterms:created xsi:type="dcterms:W3CDTF">2026-10-28T09:48:59Z</dcterms:created>
  <dcterms:modified xsi:type="dcterms:W3CDTF">2026-10-28T09:48:59Z</dcterms:modified>
</cp:coreProperties>
</file>