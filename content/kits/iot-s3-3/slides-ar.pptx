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rtl="1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1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256032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pic>
        <p:nvPicPr>
          <p:cNvPr id="3" name="Image 0" descr="H:\htdocs\darsi\apps\web\public\app-icons\app-icon-19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1480" y="6172200"/>
            <a:ext cx="457200" cy="4572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005840" y="6236208"/>
            <a:ext cx="10698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ar-SA" altLang="en-US" sz="1100" dirty="0">
                <a:solidFill>
                  <a:srgbClr val="5C54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درسي — يُسمح بنسخها لمدرستك مجانًا، جهاز يتذكّر، ١</a:t>
            </a:r>
            <a:endParaRPr lang="ar-SA" sz="1100" dirty="0"/>
          </a:p>
        </p:txBody>
      </p:sp>
      <p:sp>
        <p:nvSpPr>
          <p:cNvPr id="5" name="Shape 2"/>
          <p:cNvSpPr/>
          <p:nvPr/>
        </p:nvSpPr>
        <p:spPr>
          <a:xfrm>
            <a:off x="548640" y="1280160"/>
            <a:ext cx="3474720" cy="3474720"/>
          </a:xfrm>
          <a:prstGeom prst="roundRect">
            <a:avLst>
              <a:gd name="adj" fmla="val 10526"/>
            </a:avLst>
          </a:prstGeom>
          <a:solidFill>
            <a:srgbClr val="CCF2EC"/>
          </a:solidFill>
          <a:ln w="12700">
            <a:solidFill>
              <a:srgbClr val="CCF2EC"/>
            </a:solidFill>
            <a:prstDash val="solid"/>
          </a:ln>
        </p:spPr>
      </p:sp>
      <p:pic>
        <p:nvPicPr>
          <p:cNvPr id="6" name="Image 1" descr="H:\htdocs\darsi\apps\web\public\app-icons\app-icon-192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1600" y="2103120"/>
            <a:ext cx="1828800" cy="1828800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4389120" y="1828800"/>
            <a:ext cx="722376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ar-SA" altLang="en-US" sz="5400" b="1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جهاز يتذكّر</a:t>
            </a:r>
            <a:endParaRPr lang="ar-SA" sz="5400" dirty="0"/>
          </a:p>
        </p:txBody>
      </p:sp>
      <p:sp>
        <p:nvSpPr>
          <p:cNvPr id="8" name="Text 4"/>
          <p:cNvSpPr/>
          <p:nvPr/>
        </p:nvSpPr>
        <p:spPr>
          <a:xfrm>
            <a:off x="4389120" y="3749040"/>
            <a:ext cx="72237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ar-SA" altLang="en-US" sz="2200" b="1" dirty="0">
                <a:solidFill>
                  <a:srgbClr val="065F5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إنترنت الأشياء، المستوى ٣، الدرس ٣</a:t>
            </a:r>
            <a:endParaRPr lang="ar-SA" sz="2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256032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pic>
        <p:nvPicPr>
          <p:cNvPr id="3" name="Image 0" descr="H:\htdocs\darsi\apps\web\public\app-icons\app-icon-19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1480" y="6172200"/>
            <a:ext cx="457200" cy="4572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005840" y="6236208"/>
            <a:ext cx="10698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ar-SA" altLang="en-US" sz="1100" dirty="0">
                <a:solidFill>
                  <a:srgbClr val="5C54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درسي — يُسمح بنسخها لمدرستك مجانًا، جهاز يتذكّر، ٢</a:t>
            </a:r>
            <a:endParaRPr lang="ar-SA" sz="1100" dirty="0"/>
          </a:p>
        </p:txBody>
      </p:sp>
      <p:sp>
        <p:nvSpPr>
          <p:cNvPr id="5" name="Text 2"/>
          <p:cNvSpPr/>
          <p:nvPr/>
        </p:nvSpPr>
        <p:spPr>
          <a:xfrm>
            <a:off x="640080" y="594360"/>
            <a:ext cx="108813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ar-SA" altLang="en-US" sz="3800" b="1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في هذا الدرس</a:t>
            </a:r>
            <a:endParaRPr lang="ar-SA" sz="3800" dirty="0"/>
          </a:p>
        </p:txBody>
      </p:sp>
      <p:sp>
        <p:nvSpPr>
          <p:cNvPr id="6" name="Text 3"/>
          <p:cNvSpPr/>
          <p:nvPr/>
        </p:nvSpPr>
        <p:spPr>
          <a:xfrm>
            <a:off x="822960" y="1691640"/>
            <a:ext cx="10515600" cy="4206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rtl="1" algn="r" marL="342900" indent="-342900">
              <a:spcAft>
                <a:spcPts val="1300"/>
              </a:spcAft>
              <a:buSzPct val="100000"/>
              <a:buChar char="●"/>
            </a:pPr>
            <a:r>
              <a:rPr lang="ar-SA" altLang="en-US" sz="2600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تقرّر كم مرة يجب أن يأخذ الجهاز قراءة بحسب المهمة.</a:t>
            </a:r>
            <a:endParaRPr lang="ar-SA" sz="2600" dirty="0"/>
          </a:p>
          <a:p>
            <a:pPr rtl="1" algn="r" marL="342900" indent="-342900">
              <a:spcAft>
                <a:spcPts val="1300"/>
              </a:spcAft>
              <a:buSzPct val="100000"/>
              <a:buChar char="●"/>
            </a:pPr>
            <a:r>
              <a:rPr lang="ar-SA" altLang="en-US" sz="2600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تشرح لماذا تحمل كل قراءة خطأً صغيرًا، وكيف يفيد المتوسط وما ثمنه.</a:t>
            </a:r>
            <a:endParaRPr lang="ar-SA" sz="2600" dirty="0"/>
          </a:p>
          <a:p>
            <a:pPr rtl="1" algn="r" marL="342900" indent="-342900">
              <a:spcAft>
                <a:spcPts val="1300"/>
              </a:spcAft>
              <a:buSzPct val="100000"/>
              <a:buChar char="●"/>
            </a:pPr>
            <a:r>
              <a:rPr lang="ar-SA" altLang="en-US" sz="2600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تخطّط لسجل بيانات فيه الأوقات والوحدات.</a:t>
            </a:r>
            <a:endParaRPr lang="ar-SA" sz="2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256032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pic>
        <p:nvPicPr>
          <p:cNvPr id="3" name="Image 0" descr="H:\htdocs\darsi\apps\web\public\app-icons\app-icon-19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1480" y="6172200"/>
            <a:ext cx="457200" cy="4572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005840" y="6236208"/>
            <a:ext cx="10698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ar-SA" altLang="en-US" sz="1100" dirty="0">
                <a:solidFill>
                  <a:srgbClr val="5C54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درسي — يُسمح بنسخها لمدرستك مجانًا، جهاز يتذكّر، ٣</a:t>
            </a:r>
            <a:endParaRPr lang="ar-SA" sz="1100" dirty="0"/>
          </a:p>
        </p:txBody>
      </p:sp>
      <p:sp>
        <p:nvSpPr>
          <p:cNvPr id="5" name="Text 2"/>
          <p:cNvSpPr/>
          <p:nvPr/>
        </p:nvSpPr>
        <p:spPr>
          <a:xfrm>
            <a:off x="640080" y="594360"/>
            <a:ext cx="108813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ar-SA" altLang="en-US" sz="3800" b="1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اقرأ، خزّن، تحقّق</a:t>
            </a:r>
            <a:endParaRPr lang="ar-SA" sz="3800" dirty="0"/>
          </a:p>
        </p:txBody>
      </p:sp>
      <p:sp>
        <p:nvSpPr>
          <p:cNvPr id="6" name="Text 3"/>
          <p:cNvSpPr/>
          <p:nvPr/>
        </p:nvSpPr>
        <p:spPr>
          <a:xfrm>
            <a:off x="822960" y="1691640"/>
            <a:ext cx="10515600" cy="4206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rtl="1" algn="r" marL="342900" indent="-342900">
              <a:spcAft>
                <a:spcPts val="1300"/>
              </a:spcAft>
              <a:buSzPct val="100000"/>
              <a:buChar char="●"/>
            </a:pPr>
            <a:r>
              <a:rPr lang="ar-SA" altLang="en-US" sz="2600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اقرأ أسرع مما يتغيّر</a:t>
            </a:r>
            <a:endParaRPr lang="ar-SA" sz="2600" dirty="0"/>
          </a:p>
          <a:p>
            <a:pPr rtl="1" algn="r" marL="342900" indent="-342900">
              <a:spcAft>
                <a:spcPts val="1300"/>
              </a:spcAft>
              <a:buSzPct val="100000"/>
              <a:buChar char="●"/>
            </a:pPr>
            <a:r>
              <a:rPr lang="ar-SA" altLang="en-US" sz="2600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كل قراءة تهتز قليلًا</a:t>
            </a:r>
            <a:endParaRPr lang="ar-SA" sz="2600" dirty="0"/>
          </a:p>
          <a:p>
            <a:pPr rtl="1" algn="r" marL="342900" indent="-342900">
              <a:spcAft>
                <a:spcPts val="1300"/>
              </a:spcAft>
              <a:buSzPct val="100000"/>
              <a:buChar char="●"/>
            </a:pPr>
            <a:r>
              <a:rPr lang="ar-SA" altLang="en-US" sz="2600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المتوسط: أهدأ، لكنه أبطأ</a:t>
            </a:r>
            <a:endParaRPr lang="ar-SA" sz="2600" dirty="0"/>
          </a:p>
          <a:p>
            <a:pPr rtl="1" algn="r" marL="342900" indent="-342900">
              <a:spcAft>
                <a:spcPts val="1300"/>
              </a:spcAft>
              <a:buSzPct val="100000"/>
              <a:buChar char="●"/>
            </a:pPr>
            <a:r>
              <a:rPr lang="ar-SA" altLang="en-US" sz="2600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الوقت والوحدة والمكان في كل صف</a:t>
            </a:r>
            <a:endParaRPr lang="ar-SA" sz="26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256032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pic>
        <p:nvPicPr>
          <p:cNvPr id="3" name="Image 0" descr="H:\htdocs\darsi\apps\web\public\app-icons\app-icon-19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1480" y="6172200"/>
            <a:ext cx="457200" cy="4572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005840" y="6236208"/>
            <a:ext cx="10698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ar-SA" altLang="en-US" sz="1100" dirty="0">
                <a:solidFill>
                  <a:srgbClr val="5C54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درسي — يُسمح بنسخها لمدرستك مجانًا، جهاز يتذكّر، ٤</a:t>
            </a:r>
            <a:endParaRPr lang="ar-SA" sz="1100" dirty="0"/>
          </a:p>
        </p:txBody>
      </p:sp>
      <p:sp>
        <p:nvSpPr>
          <p:cNvPr id="5" name="Text 2"/>
          <p:cNvSpPr/>
          <p:nvPr/>
        </p:nvSpPr>
        <p:spPr>
          <a:xfrm>
            <a:off x="640080" y="594360"/>
            <a:ext cx="108813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ar-SA" altLang="en-US" sz="3800" b="1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كن مسجّل بيانات</a:t>
            </a:r>
            <a:endParaRPr lang="ar-SA" sz="3800" dirty="0"/>
          </a:p>
        </p:txBody>
      </p:sp>
      <p:sp>
        <p:nvSpPr>
          <p:cNvPr id="6" name="Text 3"/>
          <p:cNvSpPr/>
          <p:nvPr/>
        </p:nvSpPr>
        <p:spPr>
          <a:xfrm>
            <a:off x="4160520" y="1691640"/>
            <a:ext cx="7223760" cy="4206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rtl="1" algn="r" marL="342900" indent="-342900">
              <a:spcAft>
                <a:spcPts val="1300"/>
              </a:spcAft>
              <a:buSzPct val="100000"/>
              <a:buFont typeface="+mj-lt"/>
              <a:buAutoNum type="arabicPeriod" startAt="1"/>
            </a:pPr>
            <a:r>
              <a:rPr lang="ar-SA" altLang="en-US" sz="2600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اختر ما ستقيسه، وأين.</a:t>
            </a:r>
            <a:endParaRPr lang="ar-SA" sz="2600" dirty="0"/>
          </a:p>
          <a:p>
            <a:pPr rtl="1" algn="r" marL="342900" indent="-342900">
              <a:spcAft>
                <a:spcPts val="1300"/>
              </a:spcAft>
              <a:buSzPct val="100000"/>
              <a:buFont typeface="+mj-lt"/>
              <a:buAutoNum type="arabicPeriod" startAt="1"/>
            </a:pPr>
            <a:r>
              <a:rPr lang="ar-SA" altLang="en-US" sz="2600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ارسم جدولًا: التاريخ، والوقت، والقراءة، والوحدة، والمكان.</a:t>
            </a:r>
            <a:endParaRPr lang="ar-SA" sz="2600" dirty="0"/>
          </a:p>
          <a:p>
            <a:pPr rtl="1" algn="r" marL="342900" indent="-342900">
              <a:spcAft>
                <a:spcPts val="1300"/>
              </a:spcAft>
              <a:buSzPct val="100000"/>
              <a:buFont typeface="+mj-lt"/>
              <a:buAutoNum type="arabicPeriod" startAt="1"/>
            </a:pPr>
            <a:r>
              <a:rPr lang="ar-SA" altLang="en-US" sz="2600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خذ قراءة كل ساعة لمدة يوم.</a:t>
            </a:r>
            <a:endParaRPr lang="ar-SA" sz="2600" dirty="0"/>
          </a:p>
          <a:p>
            <a:pPr rtl="1" algn="r" marL="342900" indent="-342900">
              <a:spcAft>
                <a:spcPts val="1300"/>
              </a:spcAft>
              <a:buSzPct val="100000"/>
              <a:buFont typeface="+mj-lt"/>
              <a:buAutoNum type="arabicPeriod" startAt="1"/>
            </a:pPr>
            <a:r>
              <a:rPr lang="ar-SA" altLang="en-US" sz="2600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ارسم رسمًا بيانيًا لليوم.</a:t>
            </a:r>
            <a:endParaRPr lang="ar-SA" sz="2600" dirty="0"/>
          </a:p>
          <a:p>
            <a:pPr rtl="1" algn="r" marL="342900" indent="-342900">
              <a:spcAft>
                <a:spcPts val="1300"/>
              </a:spcAft>
              <a:buSzPct val="100000"/>
              <a:buFont typeface="+mj-lt"/>
              <a:buAutoNum type="arabicPeriod" startAt="1"/>
            </a:pPr>
            <a:r>
              <a:rPr lang="ar-SA" altLang="en-US" sz="2600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علّم أي قراءة لا يمكن أن تكون صحيحة.</a:t>
            </a:r>
            <a:endParaRPr lang="ar-SA" sz="2600" dirty="0"/>
          </a:p>
        </p:txBody>
      </p:sp>
      <p:sp>
        <p:nvSpPr>
          <p:cNvPr id="7" name="Shape 4"/>
          <p:cNvSpPr/>
          <p:nvPr/>
        </p:nvSpPr>
        <p:spPr>
          <a:xfrm>
            <a:off x="640080" y="1783080"/>
            <a:ext cx="3246120" cy="4023360"/>
          </a:xfrm>
          <a:prstGeom prst="roundRect">
            <a:avLst>
              <a:gd name="adj" fmla="val 5634"/>
            </a:avLst>
          </a:prstGeom>
          <a:solidFill>
            <a:srgbClr val="FFE2D2"/>
          </a:solidFill>
          <a:ln w="25400">
            <a:solidFill>
              <a:srgbClr val="FF6A2B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777240" y="1874520"/>
            <a:ext cx="2971800" cy="3840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ctr" indent="0" marL="0">
              <a:buNone/>
            </a:pPr>
            <a:r>
              <a:rPr lang="ar-SA" altLang="en-US" sz="1700" b="1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أبقِ ميزان الحرارة في الظل، لا في الشمس المباشرة. ولا تنظر إلى الشمس مباشرة حين تقيس الظلال، ولا تترك الهاتف في الشمس الحارة.</a:t>
            </a:r>
            <a:endParaRPr lang="ar-SA" sz="17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256032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pic>
        <p:nvPicPr>
          <p:cNvPr id="3" name="Image 0" descr="H:\htdocs\darsi\apps\web\public\app-icons\app-icon-19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1480" y="6172200"/>
            <a:ext cx="457200" cy="4572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005840" y="6236208"/>
            <a:ext cx="10698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ar-SA" altLang="en-US" sz="1100" dirty="0">
                <a:solidFill>
                  <a:srgbClr val="5C54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درسي — يُسمح بنسخها لمدرستك مجانًا، جهاز يتذكّر، ٥</a:t>
            </a:r>
            <a:endParaRPr lang="ar-SA" sz="1100" dirty="0"/>
          </a:p>
        </p:txBody>
      </p:sp>
      <p:sp>
        <p:nvSpPr>
          <p:cNvPr id="5" name="Text 2"/>
          <p:cNvSpPr/>
          <p:nvPr/>
        </p:nvSpPr>
        <p:spPr>
          <a:xfrm>
            <a:off x="640080" y="594360"/>
            <a:ext cx="108813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ar-SA" altLang="en-US" sz="3800" b="1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لنتناقش</a:t>
            </a:r>
            <a:endParaRPr lang="ar-SA" sz="3800" dirty="0"/>
          </a:p>
        </p:txBody>
      </p:sp>
      <p:sp>
        <p:nvSpPr>
          <p:cNvPr id="6" name="Text 3"/>
          <p:cNvSpPr/>
          <p:nvPr/>
        </p:nvSpPr>
        <p:spPr>
          <a:xfrm>
            <a:off x="822960" y="1691640"/>
            <a:ext cx="10515600" cy="4206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rtl="1" algn="r" marL="342900" indent="-342900">
              <a:spcAft>
                <a:spcPts val="1300"/>
              </a:spcAft>
              <a:buSzPct val="100000"/>
              <a:buFont typeface="+mj-lt"/>
              <a:buAutoNum type="arabicPeriod" startAt="1"/>
            </a:pPr>
            <a:r>
              <a:rPr lang="ar-SA" altLang="en-US" sz="2600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ما الذي قد يجعل قراءاتك خاطئة قليلًا؟</a:t>
            </a:r>
            <a:endParaRPr lang="ar-SA" sz="2600" dirty="0"/>
          </a:p>
          <a:p>
            <a:pPr rtl="1" algn="r" marL="342900" indent="-342900">
              <a:spcAft>
                <a:spcPts val="1300"/>
              </a:spcAft>
              <a:buSzPct val="100000"/>
              <a:buFont typeface="+mj-lt"/>
              <a:buAutoNum type="arabicPeriod" startAt="1"/>
            </a:pPr>
            <a:r>
              <a:rPr lang="ar-SA" altLang="en-US" sz="2600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متى تكفي قراءة واحدة في اليوم، ومتى تكون أقل بكثير من اللازم؟</a:t>
            </a:r>
            <a:endParaRPr lang="ar-SA" sz="2600" dirty="0"/>
          </a:p>
          <a:p>
            <a:pPr rtl="1" algn="r" marL="342900" indent="-342900">
              <a:spcAft>
                <a:spcPts val="1300"/>
              </a:spcAft>
              <a:buSzPct val="100000"/>
              <a:buFont typeface="+mj-lt"/>
              <a:buAutoNum type="arabicPeriod" startAt="1"/>
            </a:pPr>
            <a:r>
              <a:rPr lang="ar-SA" altLang="en-US" sz="2600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لماذا تحتفظ بالبيانات الخام بعد تنظيفها؟</a:t>
            </a:r>
            <a:endParaRPr lang="ar-SA" sz="26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256032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pic>
        <p:nvPicPr>
          <p:cNvPr id="3" name="Image 0" descr="H:\htdocs\darsi\apps\web\public\app-icons\app-icon-19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1480" y="6172200"/>
            <a:ext cx="457200" cy="4572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005840" y="6236208"/>
            <a:ext cx="10698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ar-SA" altLang="en-US" sz="1100" dirty="0">
                <a:solidFill>
                  <a:srgbClr val="5C54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درسي — يُسمح بنسخها لمدرستك مجانًا، جهاز يتذكّر، ٦</a:t>
            </a:r>
            <a:endParaRPr lang="ar-SA" sz="1100" dirty="0"/>
          </a:p>
        </p:txBody>
      </p:sp>
      <p:sp>
        <p:nvSpPr>
          <p:cNvPr id="5" name="Text 2"/>
          <p:cNvSpPr/>
          <p:nvPr/>
        </p:nvSpPr>
        <p:spPr>
          <a:xfrm>
            <a:off x="640080" y="594360"/>
            <a:ext cx="108813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ar-SA" altLang="en-US" sz="3800" b="1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تحقّق من نفسك</a:t>
            </a:r>
            <a:endParaRPr lang="ar-SA" sz="3800" dirty="0"/>
          </a:p>
        </p:txBody>
      </p:sp>
      <p:sp>
        <p:nvSpPr>
          <p:cNvPr id="6" name="Text 3"/>
          <p:cNvSpPr/>
          <p:nvPr/>
        </p:nvSpPr>
        <p:spPr>
          <a:xfrm>
            <a:off x="822960" y="1691640"/>
            <a:ext cx="10515600" cy="4206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rtl="1" algn="r" marL="342900" indent="-342900">
              <a:spcAft>
                <a:spcPts val="1300"/>
              </a:spcAft>
              <a:buSzPct val="100000"/>
              <a:buChar char="●"/>
            </a:pPr>
            <a:r>
              <a:rPr lang="ar-SA" altLang="en-US" sz="2600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اذكر مهمة تحتاج إلى قراءة كل بضع ثوانٍ، وأخرى تحتاج إلى قراءة واحدة في اليوم.</a:t>
            </a:r>
            <a:endParaRPr lang="ar-SA" sz="2600" dirty="0"/>
          </a:p>
        </p:txBody>
      </p:sp>
      <p:sp>
        <p:nvSpPr>
          <p:cNvPr id="7" name="Shape 4"/>
          <p:cNvSpPr/>
          <p:nvPr/>
        </p:nvSpPr>
        <p:spPr>
          <a:xfrm>
            <a:off x="822960" y="4572000"/>
            <a:ext cx="10515600" cy="36576"/>
          </a:xfrm>
          <a:prstGeom prst="rect">
            <a:avLst/>
          </a:prstGeom>
          <a:solidFill>
            <a:srgbClr val="EAD9C4"/>
          </a:solidFill>
          <a:ln w="12700">
            <a:solidFill>
              <a:srgbClr val="EAD9C4"/>
            </a:solidFill>
            <a:prstDash val="solid"/>
          </a:ln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>Darsi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جهاز يتذكّر</dc:title>
  <dc:subject>PptxGenJS Presentation</dc:subject>
  <dc:creator>Darsi</dc:creator>
  <cp:lastModifiedBy>Darsi</cp:lastModifiedBy>
  <cp:revision>1</cp:revision>
  <dcterms:created xsi:type="dcterms:W3CDTF">2026-10-28T14:44:18Z</dcterms:created>
  <dcterms:modified xsi:type="dcterms:W3CDTF">2026-10-28T14:44:18Z</dcterms:modified>
</cp:coreProperties>
</file>