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rtl="1"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1.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قراءة الأرقام: الوحدات والتدريج، ١</a:t>
            </a:r>
            <a:endParaRPr lang="ar-SA" sz="1100" dirty="0"/>
          </a:p>
        </p:txBody>
      </p:sp>
      <p:sp>
        <p:nvSpPr>
          <p:cNvPr id="5" name="Shape 2"/>
          <p:cNvSpPr/>
          <p:nvPr/>
        </p:nvSpPr>
        <p:spPr>
          <a:xfrm>
            <a:off x="548640" y="1280160"/>
            <a:ext cx="3474720" cy="3474720"/>
          </a:xfrm>
          <a:prstGeom prst="roundRect">
            <a:avLst>
              <a:gd name="adj" fmla="val 10526"/>
            </a:avLst>
          </a:prstGeom>
          <a:solidFill>
            <a:srgbClr val="CCF2EC"/>
          </a:solidFill>
          <a:ln w="12700">
            <a:solidFill>
              <a:srgbClr val="CCF2EC"/>
            </a:solidFill>
            <a:prstDash val="solid"/>
          </a:ln>
        </p:spPr>
      </p:sp>
      <p:pic>
        <p:nvPicPr>
          <p:cNvPr id="6" name="Image 1" descr="H:\htdocs\darsi\apps\web\public\app-icons\app-icon-192.png">    </p:cNvPr>
          <p:cNvPicPr>
            <a:picLocks noChangeAspect="1"/>
          </p:cNvPicPr>
          <p:nvPr/>
        </p:nvPicPr>
        <p:blipFill>
          <a:blip r:embed="rId2"/>
          <a:stretch>
            <a:fillRect/>
          </a:stretch>
        </p:blipFill>
        <p:spPr>
          <a:xfrm>
            <a:off x="1371600" y="2103120"/>
            <a:ext cx="1828800" cy="1828800"/>
          </a:xfrm>
          <a:prstGeom prst="rect">
            <a:avLst/>
          </a:prstGeom>
        </p:spPr>
      </p:pic>
      <p:sp>
        <p:nvSpPr>
          <p:cNvPr id="7" name="Text 3"/>
          <p:cNvSpPr/>
          <p:nvPr/>
        </p:nvSpPr>
        <p:spPr>
          <a:xfrm>
            <a:off x="4389120" y="1828800"/>
            <a:ext cx="7223760" cy="1828800"/>
          </a:xfrm>
          <a:prstGeom prst="rect">
            <a:avLst/>
          </a:prstGeom>
          <a:noFill/>
          <a:ln/>
        </p:spPr>
        <p:txBody>
          <a:bodyPr wrap="square" rtlCol="0" anchor="ctr"/>
          <a:lstStyle/>
          <a:p>
            <a:pPr rtl="1" algn="r" indent="0" marL="0">
              <a:buNone/>
            </a:pPr>
            <a:r>
              <a:rPr lang="ar-SA" altLang="en-US" sz="5400" b="1" dirty="0">
                <a:solidFill>
                  <a:srgbClr val="1E1A33"/>
                </a:solidFill>
                <a:latin typeface="Arial" pitchFamily="34" charset="0"/>
                <a:ea typeface="Arial" pitchFamily="34" charset="-122"/>
                <a:cs typeface="Arial" pitchFamily="34" charset="-120"/>
              </a:rPr>
              <a:t>قراءة الأرقام: الوحدات والتدريج</a:t>
            </a:r>
            <a:endParaRPr lang="ar-SA" sz="5400" dirty="0"/>
          </a:p>
        </p:txBody>
      </p:sp>
      <p:sp>
        <p:nvSpPr>
          <p:cNvPr id="8" name="Text 4"/>
          <p:cNvSpPr/>
          <p:nvPr/>
        </p:nvSpPr>
        <p:spPr>
          <a:xfrm>
            <a:off x="4389120" y="3749040"/>
            <a:ext cx="7223760" cy="548640"/>
          </a:xfrm>
          <a:prstGeom prst="rect">
            <a:avLst/>
          </a:prstGeom>
          <a:noFill/>
          <a:ln/>
        </p:spPr>
        <p:txBody>
          <a:bodyPr wrap="square" rtlCol="0" anchor="ctr"/>
          <a:lstStyle/>
          <a:p>
            <a:pPr rtl="1" algn="r" indent="0" marL="0">
              <a:buNone/>
            </a:pPr>
            <a:r>
              <a:rPr lang="ar-SA" altLang="en-US" sz="2200" b="1" dirty="0">
                <a:solidFill>
                  <a:srgbClr val="065F56"/>
                </a:solidFill>
                <a:latin typeface="Arial" pitchFamily="34" charset="0"/>
                <a:ea typeface="Arial" pitchFamily="34" charset="-122"/>
                <a:cs typeface="Arial" pitchFamily="34" charset="-120"/>
              </a:rPr>
              <a:t>إنترنت الأشياء، المستوى ١، الدرس ٢</a:t>
            </a:r>
            <a:endParaRPr lang="ar-SA"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قراءة الأرقام: الوحدات والتدريج، ٢</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سنتعلّم اليوم</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نقرأ تدريج ميزان الحرارة وأعيننا في مستواه، ونحسب قيمة كل خطوة صغيرة.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نسجّل قراءة برقمها ووحدتها ووقتها ومكانها.</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نشرح لماذا يجب أن تؤخذ القراءتان بالطريقة نفسها قبل أن نقارن بينهما.</a:t>
            </a:r>
            <a:endParaRPr lang="ar-SA" sz="2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قراءة الأرقام: الوحدات والتدريج، ٣</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القراءة الصحيحة</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اعرف قيمة كل خطوة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اقرأ وعينك في مستوى العلامة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اكتب الرقم والوحدة</a:t>
            </a:r>
            <a:endParaRPr lang="ar-SA" sz="2600" dirty="0"/>
          </a:p>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أضف الوقت والمكان</a:t>
            </a:r>
            <a:endParaRPr lang="ar-SA" sz="2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قراءة الأرقام: الوحدات والتدريج، ٤</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اقرأ ميزان الحرارة قراءة صحيحة: جولة القراءة</a:t>
            </a:r>
            <a:endParaRPr lang="ar-SA" sz="3800" dirty="0"/>
          </a:p>
        </p:txBody>
      </p:sp>
      <p:sp>
        <p:nvSpPr>
          <p:cNvPr id="6" name="Text 3"/>
          <p:cNvSpPr/>
          <p:nvPr/>
        </p:nvSpPr>
        <p:spPr>
          <a:xfrm>
            <a:off x="4160520" y="1691640"/>
            <a:ext cx="7223760" cy="4206240"/>
          </a:xfrm>
          <a:prstGeom prst="rect">
            <a:avLst/>
          </a:prstGeom>
          <a:noFill/>
          <a:ln/>
        </p:spPr>
        <p:txBody>
          <a:bodyPr wrap="square" rtlCol="0" anchor="t"/>
          <a:lstStyle/>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تمهيد (٥ دقائق): اكتب «٣٠» على السبورة.</a:t>
            </a:r>
            <a:endParaRPr lang="ar-SA" sz="1800" dirty="0"/>
          </a:p>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الشرح (٨ دقائق): اكتب على السبورة الأجزاء الأربعة للقراءة: الرقم، والوحدة، والوقت، والمكان.</a:t>
            </a:r>
            <a:endParaRPr lang="ar-SA" sz="1800" dirty="0"/>
          </a:p>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مستوى العين (٧ دقائق): ارفع زجاجة ماء شفافة ألصقت عليها تدريجًا ورقيًّا، ويقرؤها الطلاب من أعلى ومن أسفل وفي مستوى العين.</a:t>
            </a:r>
            <a:endParaRPr lang="ar-SA" sz="1800" dirty="0"/>
          </a:p>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جولة القراءة (١٤ دقيقة): يقرأ الطلاب في أزواج التدريج المرسوم على السبورة بينما تحرّك خطًّا بالطباشير، ويكتبون قراءات كاملة.</a:t>
            </a:r>
            <a:endParaRPr lang="ar-SA" sz="1800" dirty="0"/>
          </a:p>
          <a:p>
            <a:pPr rtl="1" algn="r" marL="342900" indent="-342900">
              <a:spcAft>
                <a:spcPts val="900"/>
              </a:spcAft>
              <a:buSzPct val="100000"/>
              <a:buFont typeface="+mj-lt"/>
              <a:buAutoNum type="arabicPeriod" startAt="1"/>
            </a:pPr>
            <a:r>
              <a:rPr lang="ar-SA" altLang="en-US" sz="1800" dirty="0">
                <a:solidFill>
                  <a:srgbClr val="1E1A33"/>
                </a:solidFill>
                <a:latin typeface="Arial" pitchFamily="34" charset="0"/>
                <a:ea typeface="Arial" pitchFamily="34" charset="-122"/>
                <a:cs typeface="Arial" pitchFamily="34" charset="-120"/>
              </a:rPr>
              <a:t>الختام (٦ دقائق): جهّز سجلًّا للصف بجانب الباب فيه أعمدة للتاريخ والوقت والمكان و°م.</a:t>
            </a:r>
            <a:endParaRPr lang="ar-SA" sz="1800" dirty="0"/>
          </a:p>
        </p:txBody>
      </p:sp>
      <p:sp>
        <p:nvSpPr>
          <p:cNvPr id="7" name="Shape 4"/>
          <p:cNvSpPr/>
          <p:nvPr/>
        </p:nvSpPr>
        <p:spPr>
          <a:xfrm>
            <a:off x="640080" y="1783080"/>
            <a:ext cx="3246120" cy="4023360"/>
          </a:xfrm>
          <a:prstGeom prst="roundRect">
            <a:avLst>
              <a:gd name="adj" fmla="val 5634"/>
            </a:avLst>
          </a:prstGeom>
          <a:solidFill>
            <a:srgbClr val="FFE2D2"/>
          </a:solidFill>
          <a:ln w="25400">
            <a:solidFill>
              <a:srgbClr val="FF6A2B"/>
            </a:solidFill>
            <a:prstDash val="solid"/>
          </a:ln>
        </p:spPr>
      </p:sp>
      <p:sp>
        <p:nvSpPr>
          <p:cNvPr id="8" name="Text 5"/>
          <p:cNvSpPr/>
          <p:nvPr/>
        </p:nvSpPr>
        <p:spPr>
          <a:xfrm>
            <a:off x="777240" y="1874520"/>
            <a:ext cx="2971800" cy="3840480"/>
          </a:xfrm>
          <a:prstGeom prst="rect">
            <a:avLst/>
          </a:prstGeom>
          <a:noFill/>
          <a:ln/>
        </p:spPr>
        <p:txBody>
          <a:bodyPr wrap="square" rtlCol="0" anchor="ctr"/>
          <a:lstStyle/>
          <a:p>
            <a:pPr rtl="1" algn="ctr" indent="0" marL="0">
              <a:buNone/>
            </a:pPr>
            <a:r>
              <a:rPr lang="ar-SA" altLang="en-US" sz="1200" b="1" dirty="0">
                <a:solidFill>
                  <a:srgbClr val="1E1A33"/>
                </a:solidFill>
                <a:latin typeface="Arial" pitchFamily="34" charset="0"/>
                <a:ea typeface="Arial" pitchFamily="34" charset="-122"/>
                <a:cs typeface="Arial" pitchFamily="34" charset="-120"/>
              </a:rPr>
              <a:t>علّق ميزان الحرارة في الظل على ارتفاع أعين الطلاب قبل الحصة بساعة. ارسم على السبورة تدريج ميزان حرارة كبيرًا من ٠ إلى ٥٠، وضع رقمًا عند كل عشرة، وبين كل رقمين خمس خطوات. اصنع ميزان حرارة من الورق إن لم يكن في المدرسة ميزان. وألصق تدريجًا ورقيًّا على زجاجة ماء شفافة لعرض مستوى العين.</a:t>
            </a:r>
            <a:endParaRPr lang="ar-SA"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قراءة الأرقام: الوحدات والتدريج، ٥</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لنتناقش</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ماذا نحتاج أن نعرف أيضًا؟</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هل من العدل أن نقارن قراءة الشمس بقراءة الظل؟</a:t>
            </a:r>
            <a:endParaRPr lang="ar-SA" sz="2600" dirty="0"/>
          </a:p>
          <a:p>
            <a:pPr rtl="1" algn="r" marL="342900" indent="-342900">
              <a:spcAft>
                <a:spcPts val="1300"/>
              </a:spcAft>
              <a:buSzPct val="100000"/>
              <a:buFont typeface="+mj-lt"/>
              <a:buAutoNum type="arabicPeriod" startAt="1"/>
            </a:pPr>
            <a:r>
              <a:rPr lang="ar-SA" altLang="en-US" sz="2600" dirty="0">
                <a:solidFill>
                  <a:srgbClr val="1E1A33"/>
                </a:solidFill>
                <a:latin typeface="Arial" pitchFamily="34" charset="0"/>
                <a:ea typeface="Arial" pitchFamily="34" charset="-122"/>
                <a:cs typeface="Arial" pitchFamily="34" charset="-120"/>
              </a:rPr>
              <a:t>ما الذي تغيّر غير الطقس؟</a:t>
            </a:r>
            <a:endParaRPr lang="ar-SA" sz="2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88952" cy="256032"/>
          </a:xfrm>
          <a:prstGeom prst="rect">
            <a:avLst/>
          </a:prstGeom>
          <a:solidFill>
            <a:srgbClr val="14B8A6"/>
          </a:solidFill>
          <a:ln w="12700">
            <a:solidFill>
              <a:srgbClr val="14B8A6"/>
            </a:solidFill>
            <a:prstDash val="solid"/>
          </a:ln>
        </p:spPr>
      </p:sp>
      <p:pic>
        <p:nvPicPr>
          <p:cNvPr id="3" name="Image 0" descr="H:\htdocs\darsi\apps\web\public\app-icons\app-icon-192.png">    </p:cNvPr>
          <p:cNvPicPr>
            <a:picLocks noChangeAspect="1"/>
          </p:cNvPicPr>
          <p:nvPr/>
        </p:nvPicPr>
        <p:blipFill>
          <a:blip r:embed="rId1"/>
          <a:stretch>
            <a:fillRect/>
          </a:stretch>
        </p:blipFill>
        <p:spPr>
          <a:xfrm>
            <a:off x="411480" y="6172200"/>
            <a:ext cx="457200" cy="457200"/>
          </a:xfrm>
          <a:prstGeom prst="rect">
            <a:avLst/>
          </a:prstGeom>
        </p:spPr>
      </p:pic>
      <p:sp>
        <p:nvSpPr>
          <p:cNvPr id="4" name="Text 1"/>
          <p:cNvSpPr/>
          <p:nvPr/>
        </p:nvSpPr>
        <p:spPr>
          <a:xfrm>
            <a:off x="1005840" y="6236208"/>
            <a:ext cx="10698480" cy="365760"/>
          </a:xfrm>
          <a:prstGeom prst="rect">
            <a:avLst/>
          </a:prstGeom>
          <a:noFill/>
          <a:ln/>
        </p:spPr>
        <p:txBody>
          <a:bodyPr wrap="square" rtlCol="0" anchor="ctr"/>
          <a:lstStyle/>
          <a:p>
            <a:pPr rtl="1" algn="r" indent="0" marL="0">
              <a:buNone/>
            </a:pPr>
            <a:r>
              <a:rPr lang="ar-SA" altLang="en-US" sz="1100" dirty="0">
                <a:solidFill>
                  <a:srgbClr val="5C5470"/>
                </a:solidFill>
                <a:latin typeface="Arial" pitchFamily="34" charset="0"/>
                <a:ea typeface="Arial" pitchFamily="34" charset="-122"/>
                <a:cs typeface="Arial" pitchFamily="34" charset="-120"/>
              </a:rPr>
              <a:t>درسي — يُسمح بنسخها لمدرستك مجانًا، قراءة الأرقام: الوحدات والتدريج، ٦</a:t>
            </a:r>
            <a:endParaRPr lang="ar-SA" sz="1100" dirty="0"/>
          </a:p>
        </p:txBody>
      </p:sp>
      <p:sp>
        <p:nvSpPr>
          <p:cNvPr id="5" name="Text 2"/>
          <p:cNvSpPr/>
          <p:nvPr/>
        </p:nvSpPr>
        <p:spPr>
          <a:xfrm>
            <a:off x="640080" y="594360"/>
            <a:ext cx="10881360" cy="914400"/>
          </a:xfrm>
          <a:prstGeom prst="rect">
            <a:avLst/>
          </a:prstGeom>
          <a:noFill/>
          <a:ln/>
        </p:spPr>
        <p:txBody>
          <a:bodyPr wrap="square" rtlCol="0" anchor="ctr"/>
          <a:lstStyle/>
          <a:p>
            <a:pPr rtl="1" algn="r" indent="0" marL="0">
              <a:buNone/>
            </a:pPr>
            <a:r>
              <a:rPr lang="ar-SA" altLang="en-US" sz="3800" b="1" dirty="0">
                <a:solidFill>
                  <a:srgbClr val="1E1A33"/>
                </a:solidFill>
                <a:latin typeface="Arial" pitchFamily="34" charset="0"/>
                <a:ea typeface="Arial" pitchFamily="34" charset="-122"/>
                <a:cs typeface="Arial" pitchFamily="34" charset="-120"/>
              </a:rPr>
              <a:t>بطاقة الخروج</a:t>
            </a:r>
            <a:endParaRPr lang="ar-SA" sz="3800" dirty="0"/>
          </a:p>
        </p:txBody>
      </p:sp>
      <p:sp>
        <p:nvSpPr>
          <p:cNvPr id="6" name="Text 3"/>
          <p:cNvSpPr/>
          <p:nvPr/>
        </p:nvSpPr>
        <p:spPr>
          <a:xfrm>
            <a:off x="822960" y="1691640"/>
            <a:ext cx="10515600" cy="4206240"/>
          </a:xfrm>
          <a:prstGeom prst="rect">
            <a:avLst/>
          </a:prstGeom>
          <a:noFill/>
          <a:ln/>
        </p:spPr>
        <p:txBody>
          <a:bodyPr wrap="square" rtlCol="0" anchor="t"/>
          <a:lstStyle/>
          <a:p>
            <a:pPr rtl="1" algn="r" marL="342900" indent="-342900">
              <a:spcAft>
                <a:spcPts val="1300"/>
              </a:spcAft>
              <a:buSzPct val="100000"/>
              <a:buChar char="●"/>
            </a:pPr>
            <a:r>
              <a:rPr lang="ar-SA" altLang="en-US" sz="2600" dirty="0">
                <a:solidFill>
                  <a:srgbClr val="1E1A33"/>
                </a:solidFill>
                <a:latin typeface="Arial" pitchFamily="34" charset="0"/>
                <a:ea typeface="Arial" pitchFamily="34" charset="-122"/>
                <a:cs typeface="Arial" pitchFamily="34" charset="-120"/>
              </a:rPr>
              <a:t>اكتب قراءة كاملة واحدة: الرقم والوحدة والوقت والمكان.</a:t>
            </a:r>
            <a:endParaRPr lang="ar-SA" sz="2600" dirty="0"/>
          </a:p>
        </p:txBody>
      </p:sp>
      <p:sp>
        <p:nvSpPr>
          <p:cNvPr id="7" name="Shape 4"/>
          <p:cNvSpPr/>
          <p:nvPr/>
        </p:nvSpPr>
        <p:spPr>
          <a:xfrm>
            <a:off x="822960" y="4572000"/>
            <a:ext cx="10515600" cy="36576"/>
          </a:xfrm>
          <a:prstGeom prst="rect">
            <a:avLst/>
          </a:prstGeom>
          <a:solidFill>
            <a:srgbClr val="EAD9C4"/>
          </a:solidFill>
          <a:ln w="12700">
            <a:solidFill>
              <a:srgbClr val="EAD9C4"/>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Darsi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قراءة الأرقام: الوحدات والتدريج</dc:title>
  <dc:subject>PptxGenJS Presentation</dc:subject>
  <dc:creator>Darsi</dc:creator>
  <cp:lastModifiedBy>Darsi</cp:lastModifiedBy>
  <cp:revision>1</cp:revision>
  <dcterms:created xsi:type="dcterms:W3CDTF">2026-10-27T22:35:11Z</dcterms:created>
  <dcterms:modified xsi:type="dcterms:W3CDTF">2026-10-27T22:35:11Z</dcterms:modified>
</cp:coreProperties>
</file>