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الطاقة: البطاريات والشمس، ١</a:t>
            </a:r>
            <a:endParaRPr lang="ar-SA" sz="1100" dirty="0"/>
          </a:p>
        </p:txBody>
      </p:sp>
      <p:sp>
        <p:nvSpPr>
          <p:cNvPr id="5" name="Shape 2"/>
          <p:cNvSpPr/>
          <p:nvPr/>
        </p:nvSpPr>
        <p:spPr>
          <a:xfrm>
            <a:off x="548640" y="1280160"/>
            <a:ext cx="3474720" cy="3474720"/>
          </a:xfrm>
          <a:prstGeom prst="roundRect">
            <a:avLst>
              <a:gd name="adj" fmla="val 10526"/>
            </a:avLst>
          </a:prstGeom>
          <a:solidFill>
            <a:srgbClr val="CCF2EC"/>
          </a:solidFill>
          <a:ln w="12700">
            <a:solidFill>
              <a:srgbClr val="CCF2EC"/>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1371600" y="2103120"/>
            <a:ext cx="1828800" cy="1828800"/>
          </a:xfrm>
          <a:prstGeom prst="rect">
            <a:avLst/>
          </a:prstGeom>
        </p:spPr>
      </p:pic>
      <p:sp>
        <p:nvSpPr>
          <p:cNvPr id="7" name="Text 3"/>
          <p:cNvSpPr/>
          <p:nvPr/>
        </p:nvSpPr>
        <p:spPr>
          <a:xfrm>
            <a:off x="4389120" y="1828800"/>
            <a:ext cx="7223760" cy="1828800"/>
          </a:xfrm>
          <a:prstGeom prst="rect">
            <a:avLst/>
          </a:prstGeom>
          <a:noFill/>
          <a:ln/>
        </p:spPr>
        <p:txBody>
          <a:bodyPr wrap="square" rtlCol="0" anchor="ctr"/>
          <a:lstStyle/>
          <a:p>
            <a:pPr rtl="1" algn="r" indent="0" marL="0">
              <a:buNone/>
            </a:pPr>
            <a:r>
              <a:rPr lang="ar-SA" altLang="en-US" sz="5400" b="1" dirty="0">
                <a:solidFill>
                  <a:srgbClr val="1E1A33"/>
                </a:solidFill>
                <a:latin typeface="Arial" pitchFamily="34" charset="0"/>
                <a:ea typeface="Arial" pitchFamily="34" charset="-122"/>
                <a:cs typeface="Arial" pitchFamily="34" charset="-120"/>
              </a:rPr>
              <a:t>الطاقة: البطاريات والشمس</a:t>
            </a:r>
            <a:endParaRPr lang="ar-SA" sz="5400" dirty="0"/>
          </a:p>
        </p:txBody>
      </p:sp>
      <p:sp>
        <p:nvSpPr>
          <p:cNvPr id="8" name="Text 4"/>
          <p:cNvSpPr/>
          <p:nvPr/>
        </p:nvSpPr>
        <p:spPr>
          <a:xfrm>
            <a:off x="4389120" y="3749040"/>
            <a:ext cx="7223760" cy="548640"/>
          </a:xfrm>
          <a:prstGeom prst="rect">
            <a:avLst/>
          </a:prstGeom>
          <a:noFill/>
          <a:ln/>
        </p:spPr>
        <p:txBody>
          <a:bodyPr wrap="square" rtlCol="0" anchor="ctr"/>
          <a:lstStyle/>
          <a:p>
            <a:pPr rtl="1" algn="r" indent="0" marL="0">
              <a:buNone/>
            </a:pPr>
            <a:r>
              <a:rPr lang="ar-SA" altLang="en-US" sz="2200" b="1" dirty="0">
                <a:solidFill>
                  <a:srgbClr val="065F56"/>
                </a:solidFill>
                <a:latin typeface="Arial" pitchFamily="34" charset="0"/>
                <a:ea typeface="Arial" pitchFamily="34" charset="-122"/>
                <a:cs typeface="Arial" pitchFamily="34" charset="-120"/>
              </a:rPr>
              <a:t>إنترنت الأشياء، المستوى ٣، الدرس ٣</a:t>
            </a:r>
            <a:endParaRPr lang="ar-S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الطاقة: البطاريات والشمس، ٢</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سنتعلّم اليوم</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نقدّر عمر البطارية من سعتها ومتوسط التيار.</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نشرح لماذا يطيل النومُ وقلّةُ الإرسال عمرَ المستشعر.</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نختار لوحًا شمسيًا صغيرًا وبطارية تناسب مستشعرًا يعمل طوال العام.</a:t>
            </a:r>
            <a:endParaRPr lang="ar-SA"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الطاقة: البطاريات والشمس، ٣</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طاقة المستشعرات</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الساعات = السعة (mAh) ÷ متوسط التيار (mA)</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احسب على ٧٠٪ من الرقم المكتوب</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الإرسال هو الأغلى: أرسل أقل</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الطاقة الشمسية: بطارية للأيام الغائمة، ولوح بثلاثة أضعاف الاستهلاك اليومي</a:t>
            </a:r>
            <a:endParaRPr lang="ar-SA"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الطاقة: البطاريات والشمس، ٤</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حسابات عمر البطارية</a:t>
            </a:r>
            <a:endParaRPr lang="ar-SA" sz="3800" dirty="0"/>
          </a:p>
        </p:txBody>
      </p:sp>
      <p:sp>
        <p:nvSpPr>
          <p:cNvPr id="6" name="Text 3"/>
          <p:cNvSpPr/>
          <p:nvPr/>
        </p:nvSpPr>
        <p:spPr>
          <a:xfrm>
            <a:off x="4160520" y="1691640"/>
            <a:ext cx="7223760" cy="4206240"/>
          </a:xfrm>
          <a:prstGeom prst="rect">
            <a:avLst/>
          </a:prstGeom>
          <a:noFill/>
          <a:ln/>
        </p:spPr>
        <p:txBody>
          <a:bodyPr wrap="square" rtlCol="0" anchor="t"/>
          <a:lstStyle/>
          <a:p>
            <a:pPr rtl="1" algn="r" marL="342900" indent="-342900">
              <a:spcAft>
                <a:spcPts val="1200"/>
              </a:spcAft>
              <a:buSzPct val="100000"/>
              <a:buFont typeface="+mj-lt"/>
              <a:buAutoNum type="arabicPeriod" startAt="1"/>
            </a:pPr>
            <a:r>
              <a:rPr lang="ar-SA" altLang="en-US" sz="2300" dirty="0">
                <a:solidFill>
                  <a:srgbClr val="1E1A33"/>
                </a:solidFill>
                <a:latin typeface="Arial" pitchFamily="34" charset="0"/>
                <a:ea typeface="Arial" pitchFamily="34" charset="-122"/>
                <a:cs typeface="Arial" pitchFamily="34" charset="-120"/>
              </a:rPr>
              <a:t>تمهيد (٥ دقائق): مستشعر الحديقة الذي نفد في الإجازة.</a:t>
            </a:r>
            <a:endParaRPr lang="ar-SA" sz="2300" dirty="0"/>
          </a:p>
          <a:p>
            <a:pPr rtl="1" algn="r" marL="342900" indent="-342900">
              <a:spcAft>
                <a:spcPts val="1200"/>
              </a:spcAft>
              <a:buSzPct val="100000"/>
              <a:buFont typeface="+mj-lt"/>
              <a:buAutoNum type="arabicPeriod" startAt="1"/>
            </a:pPr>
            <a:r>
              <a:rPr lang="ar-SA" altLang="en-US" sz="2300" dirty="0">
                <a:solidFill>
                  <a:srgbClr val="1E1A33"/>
                </a:solidFill>
                <a:latin typeface="Arial" pitchFamily="34" charset="0"/>
                <a:ea typeface="Arial" pitchFamily="34" charset="-122"/>
                <a:cs typeface="Arial" pitchFamily="34" charset="-120"/>
              </a:rPr>
              <a:t>الشرح (١٠ دقائق): السعة ÷ متوسط التيار، مع قاعدة الـ٧٠٪.</a:t>
            </a:r>
            <a:endParaRPr lang="ar-SA" sz="2300" dirty="0"/>
          </a:p>
          <a:p>
            <a:pPr rtl="1" algn="r" marL="342900" indent="-342900">
              <a:spcAft>
                <a:spcPts val="1200"/>
              </a:spcAft>
              <a:buSzPct val="100000"/>
              <a:buFont typeface="+mj-lt"/>
              <a:buAutoNum type="arabicPeriod" startAt="1"/>
            </a:pPr>
            <a:r>
              <a:rPr lang="ar-SA" altLang="en-US" sz="2300" dirty="0">
                <a:solidFill>
                  <a:srgbClr val="1E1A33"/>
                </a:solidFill>
                <a:latin typeface="Arial" pitchFamily="34" charset="0"/>
                <a:ea typeface="Arial" pitchFamily="34" charset="-122"/>
                <a:cs typeface="Arial" pitchFamily="34" charset="-120"/>
              </a:rPr>
              <a:t>الحسابات (١٢ دقيقة): تحسب المجموعات عمر بطارية بطاقتها.</a:t>
            </a:r>
            <a:endParaRPr lang="ar-SA" sz="2300" dirty="0"/>
          </a:p>
          <a:p>
            <a:pPr rtl="1" algn="r" marL="342900" indent="-342900">
              <a:spcAft>
                <a:spcPts val="1200"/>
              </a:spcAft>
              <a:buSzPct val="100000"/>
              <a:buFont typeface="+mj-lt"/>
              <a:buAutoNum type="arabicPeriod" startAt="1"/>
            </a:pPr>
            <a:r>
              <a:rPr lang="ar-SA" altLang="en-US" sz="2300" dirty="0">
                <a:solidFill>
                  <a:srgbClr val="1E1A33"/>
                </a:solidFill>
                <a:latin typeface="Arial" pitchFamily="34" charset="0"/>
                <a:ea typeface="Arial" pitchFamily="34" charset="-122"/>
                <a:cs typeface="Arial" pitchFamily="34" charset="-120"/>
              </a:rPr>
              <a:t>التحدّي (٨ دقائق): غيّروا شيئًا واحدًا ليدوم فصلًا دراسيًا كاملًا.</a:t>
            </a:r>
            <a:endParaRPr lang="ar-SA" sz="2300" dirty="0"/>
          </a:p>
          <a:p>
            <a:pPr rtl="1" algn="r" marL="342900" indent="-342900">
              <a:spcAft>
                <a:spcPts val="1200"/>
              </a:spcAft>
              <a:buSzPct val="100000"/>
              <a:buFont typeface="+mj-lt"/>
              <a:buAutoNum type="arabicPeriod" startAt="1"/>
            </a:pPr>
            <a:r>
              <a:rPr lang="ar-SA" altLang="en-US" sz="2300" dirty="0">
                <a:solidFill>
                  <a:srgbClr val="1E1A33"/>
                </a:solidFill>
                <a:latin typeface="Arial" pitchFamily="34" charset="0"/>
                <a:ea typeface="Arial" pitchFamily="34" charset="-122"/>
                <a:cs typeface="Arial" pitchFamily="34" charset="-120"/>
              </a:rPr>
              <a:t>الختام (٥ دقائق): اختاروا بطارية ولوحًا للأيام الغائمة.</a:t>
            </a:r>
            <a:endParaRPr lang="ar-SA" sz="2300" dirty="0"/>
          </a:p>
        </p:txBody>
      </p:sp>
      <p:sp>
        <p:nvSpPr>
          <p:cNvPr id="7" name="Shape 4"/>
          <p:cNvSpPr/>
          <p:nvPr/>
        </p:nvSpPr>
        <p:spPr>
          <a:xfrm>
            <a:off x="64008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777240" y="1874520"/>
            <a:ext cx="2971800" cy="3840480"/>
          </a:xfrm>
          <a:prstGeom prst="rect">
            <a:avLst/>
          </a:prstGeom>
          <a:noFill/>
          <a:ln/>
        </p:spPr>
        <p:txBody>
          <a:bodyPr wrap="square" rtlCol="0" anchor="ctr"/>
          <a:lstStyle/>
          <a:p>
            <a:pPr rtl="1" algn="ctr" indent="0" marL="0">
              <a:buNone/>
            </a:pPr>
            <a:r>
              <a:rPr lang="ar-SA" altLang="en-US" sz="1200" b="1" dirty="0">
                <a:solidFill>
                  <a:srgbClr val="1E1A33"/>
                </a:solidFill>
                <a:latin typeface="Arial" pitchFamily="34" charset="0"/>
                <a:ea typeface="Arial" pitchFamily="34" charset="-122"/>
                <a:cs typeface="Arial" pitchFamily="34" charset="-120"/>
              </a:rPr>
              <a:t>جهّز بطاقة مستشعر لكل مجموعة، وحُلّ الإجابات مسبقًا، وبطاقة تجمع بطارية الزر مع الواي فاي أو LoRa فخّ جيد. استعمل البطاريات وحدها، ولا تستعمل كهرباء الشبكة أبدًا. ولا تقطع بطاريات الليثيوم أو تسحقها أو تثقبها أبدًا، ويستطيع شخص بالغ أن يفتح مصباح حديقة شمسيًا قديمًا بمفكّ ليعرض اللوح والبطارية والصمام الضوئي.</a:t>
            </a:r>
            <a:endParaRPr lang="ar-SA"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الطاقة: البطاريات والشمس، ٥</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لنتناقش</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أيّ مستشعر في المدرسة يحتاج إلى بيانات حديثة كل دقيقة، وأيّها يكفيه أن يرسل مرة كل ساعة؟</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أين في المدرسة يحظى لوح شمسي بالشمس الكاملة طوال العام؟</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من سينظّف اللوح ويتفقّد البطارية كل فصل دراسي؟</a:t>
            </a:r>
            <a:endParaRPr lang="ar-SA"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الطاقة: البطاريات والشمس، ٦</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بطاقة الخروج</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متوسط تيار مستشعر ٢ ملّي أمبير، وسعة بطارياته ٢٬٥٠٠ ملّي أمبير ساعة. بحساب ٧٠٪، كم يومًا تقريبًا سيدوم؟</a:t>
            </a:r>
            <a:endParaRPr lang="ar-SA"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الطاقة: البطاريات والشمس</dc:title>
  <dc:subject>PptxGenJS Presentation</dc:subject>
  <dc:creator>Darsi</dc:creator>
  <cp:lastModifiedBy>Darsi</cp:lastModifiedBy>
  <cp:revision>1</cp:revision>
  <dcterms:created xsi:type="dcterms:W3CDTF">2026-10-28T12:56:18Z</dcterms:created>
  <dcterms:modified xsi:type="dcterms:W3CDTF">2026-10-28T12:56:18Z</dcterms:modified>
</cp:coreProperties>
</file>