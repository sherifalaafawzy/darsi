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1.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56032"/>
          </a:xfrm>
          <a:prstGeom prst="rect">
            <a:avLst/>
          </a:prstGeom>
          <a:solidFill>
            <a:srgbClr val="FFC53D"/>
          </a:solidFill>
          <a:ln w="12700">
            <a:solidFill>
              <a:srgbClr val="FFC53D"/>
            </a:solidFill>
            <a:prstDash val="solid"/>
          </a:ln>
        </p:spPr>
      </p:sp>
      <p:pic>
        <p:nvPicPr>
          <p:cNvPr id="3" name="Image 0" descr="H:\htdocs\darsi\apps\web\public\app-icons\app-icon-192.png">    </p:cNvPr>
          <p:cNvPicPr>
            <a:picLocks noChangeAspect="1"/>
          </p:cNvPicPr>
          <p:nvPr/>
        </p:nvPicPr>
        <p:blipFill>
          <a:blip r:embed="rId1"/>
          <a:stretch>
            <a:fillRect/>
          </a:stretch>
        </p:blipFill>
        <p:spPr>
          <a:xfrm>
            <a:off x="411480" y="6172200"/>
            <a:ext cx="457200" cy="457200"/>
          </a:xfrm>
          <a:prstGeom prst="rect">
            <a:avLst/>
          </a:prstGeom>
        </p:spPr>
      </p:pic>
      <p:sp>
        <p:nvSpPr>
          <p:cNvPr id="4" name="Text 1"/>
          <p:cNvSpPr/>
          <p:nvPr/>
        </p:nvSpPr>
        <p:spPr>
          <a:xfrm>
            <a:off x="1005840" y="6236208"/>
            <a:ext cx="10698480" cy="365760"/>
          </a:xfrm>
          <a:prstGeom prst="rect">
            <a:avLst/>
          </a:prstGeom>
          <a:noFill/>
          <a:ln/>
        </p:spPr>
        <p:txBody>
          <a:bodyPr wrap="square" rtlCol="0" anchor="ctr"/>
          <a:lstStyle/>
          <a:p>
            <a:pPr rtl="1" algn="r" indent="0" marL="0">
              <a:buNone/>
            </a:pPr>
            <a:r>
              <a:rPr lang="ar-SA" altLang="en-US" sz="1100" dirty="0">
                <a:solidFill>
                  <a:srgbClr val="5C5470"/>
                </a:solidFill>
                <a:latin typeface="Arial" pitchFamily="34" charset="0"/>
                <a:ea typeface="Arial" pitchFamily="34" charset="-122"/>
                <a:cs typeface="Arial" pitchFamily="34" charset="-120"/>
              </a:rPr>
              <a:t>درسي — يُسمح بنسخها لمدرستك مجانًا، بيانات جيدة، ذكاء اصطناعي منصف، ١</a:t>
            </a:r>
            <a:endParaRPr lang="ar-SA" sz="1100" dirty="0"/>
          </a:p>
        </p:txBody>
      </p:sp>
      <p:sp>
        <p:nvSpPr>
          <p:cNvPr id="5" name="Shape 2"/>
          <p:cNvSpPr/>
          <p:nvPr/>
        </p:nvSpPr>
        <p:spPr>
          <a:xfrm>
            <a:off x="548640" y="1280160"/>
            <a:ext cx="3474720" cy="3474720"/>
          </a:xfrm>
          <a:prstGeom prst="roundRect">
            <a:avLst>
              <a:gd name="adj" fmla="val 10526"/>
            </a:avLst>
          </a:prstGeom>
          <a:solidFill>
            <a:srgbClr val="FFF0C4"/>
          </a:solidFill>
          <a:ln w="12700">
            <a:solidFill>
              <a:srgbClr val="FFF0C4"/>
            </a:solidFill>
            <a:prstDash val="solid"/>
          </a:ln>
        </p:spPr>
      </p:sp>
      <p:pic>
        <p:nvPicPr>
          <p:cNvPr id="6" name="Image 1" descr="H:\htdocs\darsi\apps\web\public\app-icons\app-icon-192.png">    </p:cNvPr>
          <p:cNvPicPr>
            <a:picLocks noChangeAspect="1"/>
          </p:cNvPicPr>
          <p:nvPr/>
        </p:nvPicPr>
        <p:blipFill>
          <a:blip r:embed="rId2"/>
          <a:stretch>
            <a:fillRect/>
          </a:stretch>
        </p:blipFill>
        <p:spPr>
          <a:xfrm>
            <a:off x="1371600" y="2103120"/>
            <a:ext cx="1828800" cy="1828800"/>
          </a:xfrm>
          <a:prstGeom prst="rect">
            <a:avLst/>
          </a:prstGeom>
        </p:spPr>
      </p:pic>
      <p:sp>
        <p:nvSpPr>
          <p:cNvPr id="7" name="Text 3"/>
          <p:cNvSpPr/>
          <p:nvPr/>
        </p:nvSpPr>
        <p:spPr>
          <a:xfrm>
            <a:off x="4389120" y="1828800"/>
            <a:ext cx="7223760" cy="1828800"/>
          </a:xfrm>
          <a:prstGeom prst="rect">
            <a:avLst/>
          </a:prstGeom>
          <a:noFill/>
          <a:ln/>
        </p:spPr>
        <p:txBody>
          <a:bodyPr wrap="square" rtlCol="0" anchor="ctr"/>
          <a:lstStyle/>
          <a:p>
            <a:pPr rtl="1" algn="r" indent="0" marL="0">
              <a:buNone/>
            </a:pPr>
            <a:r>
              <a:rPr lang="ar-SA" altLang="en-US" sz="5400" b="1" dirty="0">
                <a:solidFill>
                  <a:srgbClr val="1E1A33"/>
                </a:solidFill>
                <a:latin typeface="Arial" pitchFamily="34" charset="0"/>
                <a:ea typeface="Arial" pitchFamily="34" charset="-122"/>
                <a:cs typeface="Arial" pitchFamily="34" charset="-120"/>
              </a:rPr>
              <a:t>بيانات جيدة، ذكاء اصطناعي منصف</a:t>
            </a:r>
            <a:endParaRPr lang="ar-SA" sz="5400" dirty="0"/>
          </a:p>
        </p:txBody>
      </p:sp>
      <p:sp>
        <p:nvSpPr>
          <p:cNvPr id="8" name="Text 4"/>
          <p:cNvSpPr/>
          <p:nvPr/>
        </p:nvSpPr>
        <p:spPr>
          <a:xfrm>
            <a:off x="4389120" y="3749040"/>
            <a:ext cx="7223760" cy="548640"/>
          </a:xfrm>
          <a:prstGeom prst="rect">
            <a:avLst/>
          </a:prstGeom>
          <a:noFill/>
          <a:ln/>
        </p:spPr>
        <p:txBody>
          <a:bodyPr wrap="square" rtlCol="0" anchor="ctr"/>
          <a:lstStyle/>
          <a:p>
            <a:pPr rtl="1" algn="r" indent="0" marL="0">
              <a:buNone/>
            </a:pPr>
            <a:r>
              <a:rPr lang="ar-SA" altLang="en-US" sz="2200" b="1" dirty="0">
                <a:solidFill>
                  <a:srgbClr val="7A5000"/>
                </a:solidFill>
                <a:latin typeface="Arial" pitchFamily="34" charset="0"/>
                <a:ea typeface="Arial" pitchFamily="34" charset="-122"/>
                <a:cs typeface="Arial" pitchFamily="34" charset="-120"/>
              </a:rPr>
              <a:t>الذكاء الاصطناعي، المستوى ١، الدرس ٣</a:t>
            </a:r>
            <a:endParaRPr lang="ar-SA"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56032"/>
          </a:xfrm>
          <a:prstGeom prst="rect">
            <a:avLst/>
          </a:prstGeom>
          <a:solidFill>
            <a:srgbClr val="FFC53D"/>
          </a:solidFill>
          <a:ln w="12700">
            <a:solidFill>
              <a:srgbClr val="FFC53D"/>
            </a:solidFill>
            <a:prstDash val="solid"/>
          </a:ln>
        </p:spPr>
      </p:sp>
      <p:pic>
        <p:nvPicPr>
          <p:cNvPr id="3" name="Image 0" descr="H:\htdocs\darsi\apps\web\public\app-icons\app-icon-192.png">    </p:cNvPr>
          <p:cNvPicPr>
            <a:picLocks noChangeAspect="1"/>
          </p:cNvPicPr>
          <p:nvPr/>
        </p:nvPicPr>
        <p:blipFill>
          <a:blip r:embed="rId1"/>
          <a:stretch>
            <a:fillRect/>
          </a:stretch>
        </p:blipFill>
        <p:spPr>
          <a:xfrm>
            <a:off x="411480" y="6172200"/>
            <a:ext cx="457200" cy="457200"/>
          </a:xfrm>
          <a:prstGeom prst="rect">
            <a:avLst/>
          </a:prstGeom>
        </p:spPr>
      </p:pic>
      <p:sp>
        <p:nvSpPr>
          <p:cNvPr id="4" name="Text 1"/>
          <p:cNvSpPr/>
          <p:nvPr/>
        </p:nvSpPr>
        <p:spPr>
          <a:xfrm>
            <a:off x="1005840" y="6236208"/>
            <a:ext cx="10698480" cy="365760"/>
          </a:xfrm>
          <a:prstGeom prst="rect">
            <a:avLst/>
          </a:prstGeom>
          <a:noFill/>
          <a:ln/>
        </p:spPr>
        <p:txBody>
          <a:bodyPr wrap="square" rtlCol="0" anchor="ctr"/>
          <a:lstStyle/>
          <a:p>
            <a:pPr rtl="1" algn="r" indent="0" marL="0">
              <a:buNone/>
            </a:pPr>
            <a:r>
              <a:rPr lang="ar-SA" altLang="en-US" sz="1100" dirty="0">
                <a:solidFill>
                  <a:srgbClr val="5C5470"/>
                </a:solidFill>
                <a:latin typeface="Arial" pitchFamily="34" charset="0"/>
                <a:ea typeface="Arial" pitchFamily="34" charset="-122"/>
                <a:cs typeface="Arial" pitchFamily="34" charset="-120"/>
              </a:rPr>
              <a:t>درسي — يُسمح بنسخها لمدرستك مجانًا، بيانات جيدة، ذكاء اصطناعي منصف، ٢</a:t>
            </a:r>
            <a:endParaRPr lang="ar-SA" sz="1100" dirty="0"/>
          </a:p>
        </p:txBody>
      </p:sp>
      <p:sp>
        <p:nvSpPr>
          <p:cNvPr id="5" name="Text 2"/>
          <p:cNvSpPr/>
          <p:nvPr/>
        </p:nvSpPr>
        <p:spPr>
          <a:xfrm>
            <a:off x="640080" y="594360"/>
            <a:ext cx="10881360" cy="914400"/>
          </a:xfrm>
          <a:prstGeom prst="rect">
            <a:avLst/>
          </a:prstGeom>
          <a:noFill/>
          <a:ln/>
        </p:spPr>
        <p:txBody>
          <a:bodyPr wrap="square" rtlCol="0" anchor="ctr"/>
          <a:lstStyle/>
          <a:p>
            <a:pPr rtl="1" algn="r" indent="0" marL="0">
              <a:buNone/>
            </a:pPr>
            <a:r>
              <a:rPr lang="ar-SA" altLang="en-US" sz="3800" b="1" dirty="0">
                <a:solidFill>
                  <a:srgbClr val="1E1A33"/>
                </a:solidFill>
                <a:latin typeface="Arial" pitchFamily="34" charset="0"/>
                <a:ea typeface="Arial" pitchFamily="34" charset="-122"/>
                <a:cs typeface="Arial" pitchFamily="34" charset="-120"/>
              </a:rPr>
              <a:t>سنتعلّم اليوم</a:t>
            </a:r>
            <a:endParaRPr lang="ar-SA" sz="3800" dirty="0"/>
          </a:p>
        </p:txBody>
      </p:sp>
      <p:sp>
        <p:nvSpPr>
          <p:cNvPr id="6" name="Text 3"/>
          <p:cNvSpPr/>
          <p:nvPr/>
        </p:nvSpPr>
        <p:spPr>
          <a:xfrm>
            <a:off x="822960" y="1691640"/>
            <a:ext cx="10515600" cy="4206240"/>
          </a:xfrm>
          <a:prstGeom prst="rect">
            <a:avLst/>
          </a:prstGeom>
          <a:noFill/>
          <a:ln/>
        </p:spPr>
        <p:txBody>
          <a:bodyPr wrap="square" rtlCol="0" anchor="t"/>
          <a:lstStyle/>
          <a:p>
            <a:pPr rtl="1" algn="r" marL="342900" indent="-342900">
              <a:spcAft>
                <a:spcPts val="1300"/>
              </a:spcAft>
              <a:buSzPct val="100000"/>
              <a:buChar char="●"/>
            </a:pPr>
            <a:r>
              <a:rPr lang="ar-SA" altLang="en-US" sz="2600" dirty="0">
                <a:solidFill>
                  <a:srgbClr val="1E1A33"/>
                </a:solidFill>
                <a:latin typeface="Arial" pitchFamily="34" charset="0"/>
                <a:ea typeface="Arial" pitchFamily="34" charset="-122"/>
                <a:cs typeface="Arial" pitchFamily="34" charset="-120"/>
              </a:rPr>
              <a:t>نشرح أن الآلة التي تتعلّم من الأمثلة قد تخطئ أكثر عندما تكون بعض الأمثلة ناقصة.</a:t>
            </a:r>
            <a:endParaRPr lang="ar-SA" sz="2600" dirty="0"/>
          </a:p>
          <a:p>
            <a:pPr rtl="1" algn="r" marL="342900" indent="-342900">
              <a:spcAft>
                <a:spcPts val="1300"/>
              </a:spcAft>
              <a:buSzPct val="100000"/>
              <a:buChar char="●"/>
            </a:pPr>
            <a:r>
              <a:rPr lang="ar-SA" altLang="en-US" sz="2600" dirty="0">
                <a:solidFill>
                  <a:srgbClr val="1E1A33"/>
                </a:solidFill>
                <a:latin typeface="Arial" pitchFamily="34" charset="0"/>
                <a:ea typeface="Arial" pitchFamily="34" charset="-122"/>
                <a:cs typeface="Arial" pitchFamily="34" charset="-120"/>
              </a:rPr>
              <a:t>نكتشف مَن أو ما الغائب عن مجموعة من الأمثلة.</a:t>
            </a:r>
            <a:endParaRPr lang="ar-SA" sz="2600" dirty="0"/>
          </a:p>
          <a:p>
            <a:pPr rtl="1" algn="r" marL="342900" indent="-342900">
              <a:spcAft>
                <a:spcPts val="1300"/>
              </a:spcAft>
              <a:buSzPct val="100000"/>
              <a:buChar char="●"/>
            </a:pPr>
            <a:r>
              <a:rPr lang="ar-SA" altLang="en-US" sz="2600" dirty="0">
                <a:solidFill>
                  <a:srgbClr val="1E1A33"/>
                </a:solidFill>
                <a:latin typeface="Arial" pitchFamily="34" charset="0"/>
                <a:ea typeface="Arial" pitchFamily="34" charset="-122"/>
                <a:cs typeface="Arial" pitchFamily="34" charset="-120"/>
              </a:rPr>
              <a:t>نقترح طريقة منصفة لسدّ فجوة في البيانات، مثل إضافة أمثلة من الناس الذين أُغفلوا.</a:t>
            </a:r>
            <a:endParaRPr lang="ar-SA" sz="2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56032"/>
          </a:xfrm>
          <a:prstGeom prst="rect">
            <a:avLst/>
          </a:prstGeom>
          <a:solidFill>
            <a:srgbClr val="FFC53D"/>
          </a:solidFill>
          <a:ln w="12700">
            <a:solidFill>
              <a:srgbClr val="FFC53D"/>
            </a:solidFill>
            <a:prstDash val="solid"/>
          </a:ln>
        </p:spPr>
      </p:sp>
      <p:pic>
        <p:nvPicPr>
          <p:cNvPr id="3" name="Image 0" descr="H:\htdocs\darsi\apps\web\public\app-icons\app-icon-192.png">    </p:cNvPr>
          <p:cNvPicPr>
            <a:picLocks noChangeAspect="1"/>
          </p:cNvPicPr>
          <p:nvPr/>
        </p:nvPicPr>
        <p:blipFill>
          <a:blip r:embed="rId1"/>
          <a:stretch>
            <a:fillRect/>
          </a:stretch>
        </p:blipFill>
        <p:spPr>
          <a:xfrm>
            <a:off x="411480" y="6172200"/>
            <a:ext cx="457200" cy="457200"/>
          </a:xfrm>
          <a:prstGeom prst="rect">
            <a:avLst/>
          </a:prstGeom>
        </p:spPr>
      </p:pic>
      <p:sp>
        <p:nvSpPr>
          <p:cNvPr id="4" name="Text 1"/>
          <p:cNvSpPr/>
          <p:nvPr/>
        </p:nvSpPr>
        <p:spPr>
          <a:xfrm>
            <a:off x="1005840" y="6236208"/>
            <a:ext cx="10698480" cy="365760"/>
          </a:xfrm>
          <a:prstGeom prst="rect">
            <a:avLst/>
          </a:prstGeom>
          <a:noFill/>
          <a:ln/>
        </p:spPr>
        <p:txBody>
          <a:bodyPr wrap="square" rtlCol="0" anchor="ctr"/>
          <a:lstStyle/>
          <a:p>
            <a:pPr rtl="1" algn="r" indent="0" marL="0">
              <a:buNone/>
            </a:pPr>
            <a:r>
              <a:rPr lang="ar-SA" altLang="en-US" sz="1100" dirty="0">
                <a:solidFill>
                  <a:srgbClr val="5C5470"/>
                </a:solidFill>
                <a:latin typeface="Arial" pitchFamily="34" charset="0"/>
                <a:ea typeface="Arial" pitchFamily="34" charset="-122"/>
                <a:cs typeface="Arial" pitchFamily="34" charset="-120"/>
              </a:rPr>
              <a:t>درسي — يُسمح بنسخها لمدرستك مجانًا، بيانات جيدة، ذكاء اصطناعي منصف، ٣</a:t>
            </a:r>
            <a:endParaRPr lang="ar-SA" sz="1100" dirty="0"/>
          </a:p>
        </p:txBody>
      </p:sp>
      <p:sp>
        <p:nvSpPr>
          <p:cNvPr id="5" name="Text 2"/>
          <p:cNvSpPr/>
          <p:nvPr/>
        </p:nvSpPr>
        <p:spPr>
          <a:xfrm>
            <a:off x="640080" y="594360"/>
            <a:ext cx="10881360" cy="914400"/>
          </a:xfrm>
          <a:prstGeom prst="rect">
            <a:avLst/>
          </a:prstGeom>
          <a:noFill/>
          <a:ln/>
        </p:spPr>
        <p:txBody>
          <a:bodyPr wrap="square" rtlCol="0" anchor="ctr"/>
          <a:lstStyle/>
          <a:p>
            <a:pPr rtl="1" algn="r" indent="0" marL="0">
              <a:buNone/>
            </a:pPr>
            <a:r>
              <a:rPr lang="ar-SA" altLang="en-US" sz="3800" b="1" dirty="0">
                <a:solidFill>
                  <a:srgbClr val="1E1A33"/>
                </a:solidFill>
                <a:latin typeface="Arial" pitchFamily="34" charset="0"/>
                <a:ea typeface="Arial" pitchFamily="34" charset="-122"/>
                <a:cs typeface="Arial" pitchFamily="34" charset="-120"/>
              </a:rPr>
              <a:t>تذكّر</a:t>
            </a:r>
            <a:endParaRPr lang="ar-SA" sz="3800" dirty="0"/>
          </a:p>
        </p:txBody>
      </p:sp>
      <p:sp>
        <p:nvSpPr>
          <p:cNvPr id="6" name="Text 3"/>
          <p:cNvSpPr/>
          <p:nvPr/>
        </p:nvSpPr>
        <p:spPr>
          <a:xfrm>
            <a:off x="822960" y="1691640"/>
            <a:ext cx="10515600" cy="4206240"/>
          </a:xfrm>
          <a:prstGeom prst="rect">
            <a:avLst/>
          </a:prstGeom>
          <a:noFill/>
          <a:ln/>
        </p:spPr>
        <p:txBody>
          <a:bodyPr wrap="square" rtlCol="0" anchor="t"/>
          <a:lstStyle/>
          <a:p>
            <a:pPr rtl="1" algn="r" marL="342900" indent="-342900">
              <a:spcAft>
                <a:spcPts val="1300"/>
              </a:spcAft>
              <a:buSzPct val="100000"/>
              <a:buChar char="●"/>
            </a:pPr>
            <a:r>
              <a:rPr lang="ar-SA" altLang="en-US" sz="2600" dirty="0">
                <a:solidFill>
                  <a:srgbClr val="1E1A33"/>
                </a:solidFill>
                <a:latin typeface="Arial" pitchFamily="34" charset="0"/>
                <a:ea typeface="Arial" pitchFamily="34" charset="-122"/>
                <a:cs typeface="Arial" pitchFamily="34" charset="-120"/>
              </a:rPr>
              <a:t>لا يكون الذكاء الاصطناعي أفضل من أمثلته. فعندما يغيب بعض الناس أو يندر وجودهم، يخطئ معهم غالبًا أكثر.</a:t>
            </a:r>
            <a:endParaRPr lang="ar-SA" sz="2600" dirty="0"/>
          </a:p>
          <a:p>
            <a:pPr rtl="1" algn="r" marL="342900" indent="-342900">
              <a:spcAft>
                <a:spcPts val="1300"/>
              </a:spcAft>
              <a:buSzPct val="100000"/>
              <a:buChar char="●"/>
            </a:pPr>
            <a:r>
              <a:rPr lang="ar-SA" altLang="en-US" sz="2600" dirty="0">
                <a:solidFill>
                  <a:srgbClr val="1E1A33"/>
                </a:solidFill>
                <a:latin typeface="Arial" pitchFamily="34" charset="0"/>
                <a:ea typeface="Arial" pitchFamily="34" charset="-122"/>
                <a:cs typeface="Arial" pitchFamily="34" charset="-120"/>
              </a:rPr>
              <a:t>يُسمّى هذا تحيّزًا. وكثيرًا ما ينشأ من فجوات البيانات، لا من نيّة أحد في الأذى — وهو يحدث في أدوات حقيقية.</a:t>
            </a:r>
            <a:endParaRPr lang="ar-SA" sz="2600" dirty="0"/>
          </a:p>
          <a:p>
            <a:pPr rtl="1" algn="r" marL="342900" indent="-342900">
              <a:spcAft>
                <a:spcPts val="1300"/>
              </a:spcAft>
              <a:buSzPct val="100000"/>
              <a:buChar char="●"/>
            </a:pPr>
            <a:r>
              <a:rPr lang="ar-SA" altLang="en-US" sz="2600" dirty="0">
                <a:solidFill>
                  <a:srgbClr val="1E1A33"/>
                </a:solidFill>
                <a:latin typeface="Arial" pitchFamily="34" charset="0"/>
                <a:ea typeface="Arial" pitchFamily="34" charset="-122"/>
                <a:cs typeface="Arial" pitchFamily="34" charset="-120"/>
              </a:rPr>
              <a:t>سُدّ الفجوات: اجمع أمثلة من الناس الذين سيستخدمون الأداة، واختبرها مع فئات مختلفة، ودع الناس يبلّغون عن الأخطاء، واجعل البشر يراجعون دائمًا.</a:t>
            </a:r>
            <a:endParaRPr lang="ar-SA" sz="2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56032"/>
          </a:xfrm>
          <a:prstGeom prst="rect">
            <a:avLst/>
          </a:prstGeom>
          <a:solidFill>
            <a:srgbClr val="FFC53D"/>
          </a:solidFill>
          <a:ln w="12700">
            <a:solidFill>
              <a:srgbClr val="FFC53D"/>
            </a:solidFill>
            <a:prstDash val="solid"/>
          </a:ln>
        </p:spPr>
      </p:sp>
      <p:pic>
        <p:nvPicPr>
          <p:cNvPr id="3" name="Image 0" descr="H:\htdocs\darsi\apps\web\public\app-icons\app-icon-192.png">    </p:cNvPr>
          <p:cNvPicPr>
            <a:picLocks noChangeAspect="1"/>
          </p:cNvPicPr>
          <p:nvPr/>
        </p:nvPicPr>
        <p:blipFill>
          <a:blip r:embed="rId1"/>
          <a:stretch>
            <a:fillRect/>
          </a:stretch>
        </p:blipFill>
        <p:spPr>
          <a:xfrm>
            <a:off x="411480" y="6172200"/>
            <a:ext cx="457200" cy="457200"/>
          </a:xfrm>
          <a:prstGeom prst="rect">
            <a:avLst/>
          </a:prstGeom>
        </p:spPr>
      </p:pic>
      <p:sp>
        <p:nvSpPr>
          <p:cNvPr id="4" name="Text 1"/>
          <p:cNvSpPr/>
          <p:nvPr/>
        </p:nvSpPr>
        <p:spPr>
          <a:xfrm>
            <a:off x="1005840" y="6236208"/>
            <a:ext cx="10698480" cy="365760"/>
          </a:xfrm>
          <a:prstGeom prst="rect">
            <a:avLst/>
          </a:prstGeom>
          <a:noFill/>
          <a:ln/>
        </p:spPr>
        <p:txBody>
          <a:bodyPr wrap="square" rtlCol="0" anchor="ctr"/>
          <a:lstStyle/>
          <a:p>
            <a:pPr rtl="1" algn="r" indent="0" marL="0">
              <a:buNone/>
            </a:pPr>
            <a:r>
              <a:rPr lang="ar-SA" altLang="en-US" sz="1100" dirty="0">
                <a:solidFill>
                  <a:srgbClr val="5C5470"/>
                </a:solidFill>
                <a:latin typeface="Arial" pitchFamily="34" charset="0"/>
                <a:ea typeface="Arial" pitchFamily="34" charset="-122"/>
                <a:cs typeface="Arial" pitchFamily="34" charset="-120"/>
              </a:rPr>
              <a:t>درسي — يُسمح بنسخها لمدرستك مجانًا، بيانات جيدة، ذكاء اصطناعي منصف، ٤</a:t>
            </a:r>
            <a:endParaRPr lang="ar-SA" sz="1100" dirty="0"/>
          </a:p>
        </p:txBody>
      </p:sp>
      <p:sp>
        <p:nvSpPr>
          <p:cNvPr id="5" name="Text 2"/>
          <p:cNvSpPr/>
          <p:nvPr/>
        </p:nvSpPr>
        <p:spPr>
          <a:xfrm>
            <a:off x="640080" y="594360"/>
            <a:ext cx="10881360" cy="914400"/>
          </a:xfrm>
          <a:prstGeom prst="rect">
            <a:avLst/>
          </a:prstGeom>
          <a:noFill/>
          <a:ln/>
        </p:spPr>
        <p:txBody>
          <a:bodyPr wrap="square" rtlCol="0" anchor="ctr"/>
          <a:lstStyle/>
          <a:p>
            <a:pPr rtl="1" algn="r" indent="0" marL="0">
              <a:buNone/>
            </a:pPr>
            <a:r>
              <a:rPr lang="ar-SA" altLang="en-US" sz="3800" b="1" dirty="0">
                <a:solidFill>
                  <a:srgbClr val="1E1A33"/>
                </a:solidFill>
                <a:latin typeface="Arial" pitchFamily="34" charset="0"/>
                <a:ea typeface="Arial" pitchFamily="34" charset="-122"/>
                <a:cs typeface="Arial" pitchFamily="34" charset="-120"/>
              </a:rPr>
              <a:t>«أمثلة مَن؟»: لنختبر</a:t>
            </a:r>
            <a:endParaRPr lang="ar-SA" sz="3800" dirty="0"/>
          </a:p>
        </p:txBody>
      </p:sp>
      <p:sp>
        <p:nvSpPr>
          <p:cNvPr id="6" name="Text 3"/>
          <p:cNvSpPr/>
          <p:nvPr/>
        </p:nvSpPr>
        <p:spPr>
          <a:xfrm>
            <a:off x="4160520" y="1691640"/>
            <a:ext cx="7223760" cy="4206240"/>
          </a:xfrm>
          <a:prstGeom prst="rect">
            <a:avLst/>
          </a:prstGeom>
          <a:noFill/>
          <a:ln/>
        </p:spPr>
        <p:txBody>
          <a:bodyPr wrap="square" rtlCol="0" anchor="t"/>
          <a:lstStyle/>
          <a:p>
            <a:pPr rtl="1" algn="r" marL="342900" indent="-342900">
              <a:spcAft>
                <a:spcPts val="1000"/>
              </a:spcAft>
              <a:buSzPct val="100000"/>
              <a:buFont typeface="+mj-lt"/>
              <a:buAutoNum type="arabicPeriod" startAt="1"/>
            </a:pPr>
            <a:r>
              <a:rPr lang="ar-SA" altLang="en-US" sz="2000" dirty="0">
                <a:solidFill>
                  <a:srgbClr val="1E1A33"/>
                </a:solidFill>
                <a:latin typeface="Arial" pitchFamily="34" charset="0"/>
                <a:ea typeface="Arial" pitchFamily="34" charset="-122"/>
                <a:cs typeface="Arial" pitchFamily="34" charset="-120"/>
              </a:rPr>
              <a:t>التمهيد (٥ دقائق): اسأل: هل أخطأ هاتف أو تطبيق يومًا في اسم أحدهم أو في كلامه؟</a:t>
            </a:r>
            <a:endParaRPr lang="ar-SA" sz="2000" dirty="0"/>
          </a:p>
          <a:p>
            <a:pPr rtl="1" algn="r" marL="342900" indent="-342900">
              <a:spcAft>
                <a:spcPts val="1000"/>
              </a:spcAft>
              <a:buSzPct val="100000"/>
              <a:buFont typeface="+mj-lt"/>
              <a:buAutoNum type="arabicPeriod" startAt="1"/>
            </a:pPr>
            <a:r>
              <a:rPr lang="ar-SA" altLang="en-US" sz="2000" dirty="0">
                <a:solidFill>
                  <a:srgbClr val="1E1A33"/>
                </a:solidFill>
                <a:latin typeface="Arial" pitchFamily="34" charset="0"/>
                <a:ea typeface="Arial" pitchFamily="34" charset="-122"/>
                <a:cs typeface="Arial" pitchFamily="34" charset="-120"/>
              </a:rPr>
              <a:t>رسم الأمثلة (٨ دقائق): يرسم كل طالب فاكهة واحدة على ورقة مستعملة ويكتب اسمها.</a:t>
            </a:r>
            <a:endParaRPr lang="ar-SA" sz="2000" dirty="0"/>
          </a:p>
          <a:p>
            <a:pPr rtl="1" algn="r" marL="342900" indent="-342900">
              <a:spcAft>
                <a:spcPts val="1000"/>
              </a:spcAft>
              <a:buSzPct val="100000"/>
              <a:buFont typeface="+mj-lt"/>
              <a:buAutoNum type="arabicPeriod" startAt="1"/>
            </a:pPr>
            <a:r>
              <a:rPr lang="ar-SA" altLang="en-US" sz="2000" dirty="0">
                <a:solidFill>
                  <a:srgbClr val="1E1A33"/>
                </a:solidFill>
                <a:latin typeface="Arial" pitchFamily="34" charset="0"/>
                <a:ea typeface="Arial" pitchFamily="34" charset="-122"/>
                <a:cs typeface="Arial" pitchFamily="34" charset="-120"/>
              </a:rPr>
              <a:t>الاختبار (١٠ دقائق): الصف هو جهاز التعرّف، ولا يجيب إلا بفاكهة موجودة في المربع.</a:t>
            </a:r>
            <a:endParaRPr lang="ar-SA" sz="2000" dirty="0"/>
          </a:p>
          <a:p>
            <a:pPr rtl="1" algn="r" marL="342900" indent="-342900">
              <a:spcAft>
                <a:spcPts val="1000"/>
              </a:spcAft>
              <a:buSzPct val="100000"/>
              <a:buFont typeface="+mj-lt"/>
              <a:buAutoNum type="arabicPeriod" startAt="1"/>
            </a:pPr>
            <a:r>
              <a:rPr lang="ar-SA" altLang="en-US" sz="2000" dirty="0">
                <a:solidFill>
                  <a:srgbClr val="1E1A33"/>
                </a:solidFill>
                <a:latin typeface="Arial" pitchFamily="34" charset="0"/>
                <a:ea typeface="Arial" pitchFamily="34" charset="-122"/>
                <a:cs typeface="Arial" pitchFamily="34" charset="-120"/>
              </a:rPr>
              <a:t>حوار ثنائي (١٠ دقائق): يتناقش كل زوج: ما الذي كان ناقصًا، وكيف يمكننا إصلاحه؟</a:t>
            </a:r>
            <a:endParaRPr lang="ar-SA" sz="2000" dirty="0"/>
          </a:p>
          <a:p>
            <a:pPr rtl="1" algn="r" marL="342900" indent="-342900">
              <a:spcAft>
                <a:spcPts val="1000"/>
              </a:spcAft>
              <a:buSzPct val="100000"/>
              <a:buFont typeface="+mj-lt"/>
              <a:buAutoNum type="arabicPeriod" startAt="1"/>
            </a:pPr>
            <a:r>
              <a:rPr lang="ar-SA" altLang="en-US" sz="2000" dirty="0">
                <a:solidFill>
                  <a:srgbClr val="1E1A33"/>
                </a:solidFill>
                <a:latin typeface="Arial" pitchFamily="34" charset="0"/>
                <a:ea typeface="Arial" pitchFamily="34" charset="-122"/>
                <a:cs typeface="Arial" pitchFamily="34" charset="-120"/>
              </a:rPr>
              <a:t>الختام (٧ دقائق): أضف رسومات للفاكهة الناقصة، واختبر من جديد.</a:t>
            </a:r>
            <a:endParaRPr lang="ar-SA" sz="2000" dirty="0"/>
          </a:p>
        </p:txBody>
      </p:sp>
      <p:sp>
        <p:nvSpPr>
          <p:cNvPr id="7" name="Shape 4"/>
          <p:cNvSpPr/>
          <p:nvPr/>
        </p:nvSpPr>
        <p:spPr>
          <a:xfrm>
            <a:off x="640080" y="1783080"/>
            <a:ext cx="3246120" cy="4023360"/>
          </a:xfrm>
          <a:prstGeom prst="roundRect">
            <a:avLst>
              <a:gd name="adj" fmla="val 5634"/>
            </a:avLst>
          </a:prstGeom>
          <a:solidFill>
            <a:srgbClr val="FFE2D2"/>
          </a:solidFill>
          <a:ln w="25400">
            <a:solidFill>
              <a:srgbClr val="FF6A2B"/>
            </a:solidFill>
            <a:prstDash val="solid"/>
          </a:ln>
        </p:spPr>
      </p:sp>
      <p:sp>
        <p:nvSpPr>
          <p:cNvPr id="8" name="Text 5"/>
          <p:cNvSpPr/>
          <p:nvPr/>
        </p:nvSpPr>
        <p:spPr>
          <a:xfrm>
            <a:off x="777240" y="1874520"/>
            <a:ext cx="2971800" cy="3840480"/>
          </a:xfrm>
          <a:prstGeom prst="rect">
            <a:avLst/>
          </a:prstGeom>
          <a:noFill/>
          <a:ln/>
        </p:spPr>
        <p:txBody>
          <a:bodyPr wrap="square" rtlCol="0" anchor="ctr"/>
          <a:lstStyle/>
          <a:p>
            <a:pPr rtl="1" algn="ctr" indent="0" marL="0">
              <a:buNone/>
            </a:pPr>
            <a:r>
              <a:rPr lang="ar-SA" altLang="en-US" sz="1400" b="1" dirty="0">
                <a:solidFill>
                  <a:srgbClr val="1E1A33"/>
                </a:solidFill>
                <a:latin typeface="Arial" pitchFamily="34" charset="0"/>
                <a:ea typeface="Arial" pitchFamily="34" charset="-122"/>
                <a:cs typeface="Arial" pitchFamily="34" charset="-120"/>
              </a:rPr>
              <a:t>ارسم مربعًا كبيرًا على السبّورة واكتب فوقه «أمثلتنا». أحضر فاكهتين أو ثلاثًا من الفواكه المحلية التي قد لا يخطر للطلاب أن يرسموها، مثل الجوافة أو التمر أو التين الشوكي أو الجاك فروت أو ثمرة الباوباب.</a:t>
            </a:r>
            <a:endParaRPr lang="ar-SA"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56032"/>
          </a:xfrm>
          <a:prstGeom prst="rect">
            <a:avLst/>
          </a:prstGeom>
          <a:solidFill>
            <a:srgbClr val="FFC53D"/>
          </a:solidFill>
          <a:ln w="12700">
            <a:solidFill>
              <a:srgbClr val="FFC53D"/>
            </a:solidFill>
            <a:prstDash val="solid"/>
          </a:ln>
        </p:spPr>
      </p:sp>
      <p:pic>
        <p:nvPicPr>
          <p:cNvPr id="3" name="Image 0" descr="H:\htdocs\darsi\apps\web\public\app-icons\app-icon-192.png">    </p:cNvPr>
          <p:cNvPicPr>
            <a:picLocks noChangeAspect="1"/>
          </p:cNvPicPr>
          <p:nvPr/>
        </p:nvPicPr>
        <p:blipFill>
          <a:blip r:embed="rId1"/>
          <a:stretch>
            <a:fillRect/>
          </a:stretch>
        </p:blipFill>
        <p:spPr>
          <a:xfrm>
            <a:off x="411480" y="6172200"/>
            <a:ext cx="457200" cy="457200"/>
          </a:xfrm>
          <a:prstGeom prst="rect">
            <a:avLst/>
          </a:prstGeom>
        </p:spPr>
      </p:pic>
      <p:sp>
        <p:nvSpPr>
          <p:cNvPr id="4" name="Text 1"/>
          <p:cNvSpPr/>
          <p:nvPr/>
        </p:nvSpPr>
        <p:spPr>
          <a:xfrm>
            <a:off x="1005840" y="6236208"/>
            <a:ext cx="10698480" cy="365760"/>
          </a:xfrm>
          <a:prstGeom prst="rect">
            <a:avLst/>
          </a:prstGeom>
          <a:noFill/>
          <a:ln/>
        </p:spPr>
        <p:txBody>
          <a:bodyPr wrap="square" rtlCol="0" anchor="ctr"/>
          <a:lstStyle/>
          <a:p>
            <a:pPr rtl="1" algn="r" indent="0" marL="0">
              <a:buNone/>
            </a:pPr>
            <a:r>
              <a:rPr lang="ar-SA" altLang="en-US" sz="1100" dirty="0">
                <a:solidFill>
                  <a:srgbClr val="5C5470"/>
                </a:solidFill>
                <a:latin typeface="Arial" pitchFamily="34" charset="0"/>
                <a:ea typeface="Arial" pitchFamily="34" charset="-122"/>
                <a:cs typeface="Arial" pitchFamily="34" charset="-120"/>
              </a:rPr>
              <a:t>درسي — يُسمح بنسخها لمدرستك مجانًا، بيانات جيدة، ذكاء اصطناعي منصف، ٥</a:t>
            </a:r>
            <a:endParaRPr lang="ar-SA" sz="1100" dirty="0"/>
          </a:p>
        </p:txBody>
      </p:sp>
      <p:sp>
        <p:nvSpPr>
          <p:cNvPr id="5" name="Text 2"/>
          <p:cNvSpPr/>
          <p:nvPr/>
        </p:nvSpPr>
        <p:spPr>
          <a:xfrm>
            <a:off x="640080" y="594360"/>
            <a:ext cx="10881360" cy="914400"/>
          </a:xfrm>
          <a:prstGeom prst="rect">
            <a:avLst/>
          </a:prstGeom>
          <a:noFill/>
          <a:ln/>
        </p:spPr>
        <p:txBody>
          <a:bodyPr wrap="square" rtlCol="0" anchor="ctr"/>
          <a:lstStyle/>
          <a:p>
            <a:pPr rtl="1" algn="r" indent="0" marL="0">
              <a:buNone/>
            </a:pPr>
            <a:r>
              <a:rPr lang="ar-SA" altLang="en-US" sz="3800" b="1" dirty="0">
                <a:solidFill>
                  <a:srgbClr val="1E1A33"/>
                </a:solidFill>
                <a:latin typeface="Arial" pitchFamily="34" charset="0"/>
                <a:ea typeface="Arial" pitchFamily="34" charset="-122"/>
                <a:cs typeface="Arial" pitchFamily="34" charset="-120"/>
              </a:rPr>
              <a:t>لنتناقش</a:t>
            </a:r>
            <a:endParaRPr lang="ar-SA" sz="3800" dirty="0"/>
          </a:p>
        </p:txBody>
      </p:sp>
      <p:sp>
        <p:nvSpPr>
          <p:cNvPr id="6" name="Text 3"/>
          <p:cNvSpPr/>
          <p:nvPr/>
        </p:nvSpPr>
        <p:spPr>
          <a:xfrm>
            <a:off x="822960" y="1691640"/>
            <a:ext cx="10515600" cy="4206240"/>
          </a:xfrm>
          <a:prstGeom prst="rect">
            <a:avLst/>
          </a:prstGeom>
          <a:noFill/>
          <a:ln/>
        </p:spPr>
        <p:txBody>
          <a:bodyPr wrap="square" rtlCol="0" anchor="t"/>
          <a:lstStyle/>
          <a:p>
            <a:pPr rtl="1" algn="r" marL="342900" indent="-342900">
              <a:spcAft>
                <a:spcPts val="1300"/>
              </a:spcAft>
              <a:buSzPct val="100000"/>
              <a:buFont typeface="+mj-lt"/>
              <a:buAutoNum type="arabicPeriod" startAt="1"/>
            </a:pPr>
            <a:r>
              <a:rPr lang="ar-SA" altLang="en-US" sz="2600" dirty="0">
                <a:solidFill>
                  <a:srgbClr val="1E1A33"/>
                </a:solidFill>
                <a:latin typeface="Arial" pitchFamily="34" charset="0"/>
                <a:ea typeface="Arial" pitchFamily="34" charset="-122"/>
                <a:cs typeface="Arial" pitchFamily="34" charset="-120"/>
              </a:rPr>
              <a:t>أيّ رسم على السبّورة هو الأقرب إلى الفاكهة الجديدة؟</a:t>
            </a:r>
            <a:endParaRPr lang="ar-SA" sz="2600" dirty="0"/>
          </a:p>
          <a:p>
            <a:pPr rtl="1" algn="r" marL="342900" indent="-342900">
              <a:spcAft>
                <a:spcPts val="1300"/>
              </a:spcAft>
              <a:buSzPct val="100000"/>
              <a:buFont typeface="+mj-lt"/>
              <a:buAutoNum type="arabicPeriod" startAt="1"/>
            </a:pPr>
            <a:r>
              <a:rPr lang="ar-SA" altLang="en-US" sz="2600" dirty="0">
                <a:solidFill>
                  <a:srgbClr val="1E1A33"/>
                </a:solidFill>
                <a:latin typeface="Arial" pitchFamily="34" charset="0"/>
                <a:ea typeface="Arial" pitchFamily="34" charset="-122"/>
                <a:cs typeface="Arial" pitchFamily="34" charset="-120"/>
              </a:rPr>
              <a:t>هل هذه هي الإجابة الصحيحة؟</a:t>
            </a:r>
            <a:endParaRPr lang="ar-SA" sz="2600" dirty="0"/>
          </a:p>
          <a:p>
            <a:pPr rtl="1" algn="r" marL="342900" indent="-342900">
              <a:spcAft>
                <a:spcPts val="1300"/>
              </a:spcAft>
              <a:buSzPct val="100000"/>
              <a:buFont typeface="+mj-lt"/>
              <a:buAutoNum type="arabicPeriod" startAt="1"/>
            </a:pPr>
            <a:r>
              <a:rPr lang="ar-SA" altLang="en-US" sz="2600" dirty="0">
                <a:solidFill>
                  <a:srgbClr val="1E1A33"/>
                </a:solidFill>
                <a:latin typeface="Arial" pitchFamily="34" charset="0"/>
                <a:ea typeface="Arial" pitchFamily="34" charset="-122"/>
                <a:cs typeface="Arial" pitchFamily="34" charset="-120"/>
              </a:rPr>
              <a:t>إذن كيف نجعل أمثلتنا أكثر إنصافًا؟</a:t>
            </a:r>
            <a:endParaRPr lang="ar-SA" sz="2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56032"/>
          </a:xfrm>
          <a:prstGeom prst="rect">
            <a:avLst/>
          </a:prstGeom>
          <a:solidFill>
            <a:srgbClr val="FFC53D"/>
          </a:solidFill>
          <a:ln w="12700">
            <a:solidFill>
              <a:srgbClr val="FFC53D"/>
            </a:solidFill>
            <a:prstDash val="solid"/>
          </a:ln>
        </p:spPr>
      </p:sp>
      <p:pic>
        <p:nvPicPr>
          <p:cNvPr id="3" name="Image 0" descr="H:\htdocs\darsi\apps\web\public\app-icons\app-icon-192.png">    </p:cNvPr>
          <p:cNvPicPr>
            <a:picLocks noChangeAspect="1"/>
          </p:cNvPicPr>
          <p:nvPr/>
        </p:nvPicPr>
        <p:blipFill>
          <a:blip r:embed="rId1"/>
          <a:stretch>
            <a:fillRect/>
          </a:stretch>
        </p:blipFill>
        <p:spPr>
          <a:xfrm>
            <a:off x="411480" y="6172200"/>
            <a:ext cx="457200" cy="457200"/>
          </a:xfrm>
          <a:prstGeom prst="rect">
            <a:avLst/>
          </a:prstGeom>
        </p:spPr>
      </p:pic>
      <p:sp>
        <p:nvSpPr>
          <p:cNvPr id="4" name="Text 1"/>
          <p:cNvSpPr/>
          <p:nvPr/>
        </p:nvSpPr>
        <p:spPr>
          <a:xfrm>
            <a:off x="1005840" y="6236208"/>
            <a:ext cx="10698480" cy="365760"/>
          </a:xfrm>
          <a:prstGeom prst="rect">
            <a:avLst/>
          </a:prstGeom>
          <a:noFill/>
          <a:ln/>
        </p:spPr>
        <p:txBody>
          <a:bodyPr wrap="square" rtlCol="0" anchor="ctr"/>
          <a:lstStyle/>
          <a:p>
            <a:pPr rtl="1" algn="r" indent="0" marL="0">
              <a:buNone/>
            </a:pPr>
            <a:r>
              <a:rPr lang="ar-SA" altLang="en-US" sz="1100" dirty="0">
                <a:solidFill>
                  <a:srgbClr val="5C5470"/>
                </a:solidFill>
                <a:latin typeface="Arial" pitchFamily="34" charset="0"/>
                <a:ea typeface="Arial" pitchFamily="34" charset="-122"/>
                <a:cs typeface="Arial" pitchFamily="34" charset="-120"/>
              </a:rPr>
              <a:t>درسي — يُسمح بنسخها لمدرستك مجانًا، بيانات جيدة، ذكاء اصطناعي منصف، ٦</a:t>
            </a:r>
            <a:endParaRPr lang="ar-SA" sz="1100" dirty="0"/>
          </a:p>
        </p:txBody>
      </p:sp>
      <p:sp>
        <p:nvSpPr>
          <p:cNvPr id="5" name="Text 2"/>
          <p:cNvSpPr/>
          <p:nvPr/>
        </p:nvSpPr>
        <p:spPr>
          <a:xfrm>
            <a:off x="640080" y="594360"/>
            <a:ext cx="10881360" cy="914400"/>
          </a:xfrm>
          <a:prstGeom prst="rect">
            <a:avLst/>
          </a:prstGeom>
          <a:noFill/>
          <a:ln/>
        </p:spPr>
        <p:txBody>
          <a:bodyPr wrap="square" rtlCol="0" anchor="ctr"/>
          <a:lstStyle/>
          <a:p>
            <a:pPr rtl="1" algn="r" indent="0" marL="0">
              <a:buNone/>
            </a:pPr>
            <a:r>
              <a:rPr lang="ar-SA" altLang="en-US" sz="3800" b="1" dirty="0">
                <a:solidFill>
                  <a:srgbClr val="1E1A33"/>
                </a:solidFill>
                <a:latin typeface="Arial" pitchFamily="34" charset="0"/>
                <a:ea typeface="Arial" pitchFamily="34" charset="-122"/>
                <a:cs typeface="Arial" pitchFamily="34" charset="-120"/>
              </a:rPr>
              <a:t>بطاقة الخروج</a:t>
            </a:r>
            <a:endParaRPr lang="ar-SA" sz="3800" dirty="0"/>
          </a:p>
        </p:txBody>
      </p:sp>
      <p:sp>
        <p:nvSpPr>
          <p:cNvPr id="6" name="Text 3"/>
          <p:cNvSpPr/>
          <p:nvPr/>
        </p:nvSpPr>
        <p:spPr>
          <a:xfrm>
            <a:off x="822960" y="1691640"/>
            <a:ext cx="10515600" cy="4206240"/>
          </a:xfrm>
          <a:prstGeom prst="rect">
            <a:avLst/>
          </a:prstGeom>
          <a:noFill/>
          <a:ln/>
        </p:spPr>
        <p:txBody>
          <a:bodyPr wrap="square" rtlCol="0" anchor="t"/>
          <a:lstStyle/>
          <a:p>
            <a:pPr rtl="1" algn="r" marL="342900" indent="-342900">
              <a:spcAft>
                <a:spcPts val="1300"/>
              </a:spcAft>
              <a:buSzPct val="100000"/>
              <a:buChar char="●"/>
            </a:pPr>
            <a:r>
              <a:rPr lang="ar-SA" altLang="en-US" sz="2600" dirty="0">
                <a:solidFill>
                  <a:srgbClr val="1E1A33"/>
                </a:solidFill>
                <a:latin typeface="Arial" pitchFamily="34" charset="0"/>
                <a:ea typeface="Arial" pitchFamily="34" charset="-122"/>
                <a:cs typeface="Arial" pitchFamily="34" charset="-120"/>
              </a:rPr>
              <a:t>شيء واحد ناقص في أمثلتنا، وطريقة واحدة لإصلاح ذلك.</a:t>
            </a:r>
            <a:endParaRPr lang="ar-SA" sz="2600" dirty="0"/>
          </a:p>
        </p:txBody>
      </p:sp>
      <p:sp>
        <p:nvSpPr>
          <p:cNvPr id="7" name="Shape 4"/>
          <p:cNvSpPr/>
          <p:nvPr/>
        </p:nvSpPr>
        <p:spPr>
          <a:xfrm>
            <a:off x="822960" y="4572000"/>
            <a:ext cx="10515600" cy="36576"/>
          </a:xfrm>
          <a:prstGeom prst="rect">
            <a:avLst/>
          </a:prstGeom>
          <a:solidFill>
            <a:srgbClr val="EAD9C4"/>
          </a:solidFill>
          <a:ln w="12700">
            <a:solidFill>
              <a:srgbClr val="EAD9C4"/>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Darsi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بيانات جيدة، ذكاء اصطناعي منصف</dc:title>
  <dc:subject>PptxGenJS Presentation</dc:subject>
  <dc:creator>Darsi</dc:creator>
  <cp:lastModifiedBy>Darsi</cp:lastModifiedBy>
  <cp:revision>1</cp:revision>
  <dcterms:created xsi:type="dcterms:W3CDTF">2026-10-27T22:35:01Z</dcterms:created>
  <dcterms:modified xsi:type="dcterms:W3CDTF">2026-10-27T22:35:01Z</dcterms:modified>
</cp:coreProperties>
</file>